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279" r:id="rId2"/>
    <p:sldId id="264" r:id="rId3"/>
    <p:sldId id="258" r:id="rId4"/>
    <p:sldId id="284" r:id="rId5"/>
    <p:sldId id="287" r:id="rId6"/>
    <p:sldId id="277" r:id="rId7"/>
    <p:sldId id="289" r:id="rId8"/>
    <p:sldId id="285" r:id="rId9"/>
    <p:sldId id="257" r:id="rId10"/>
    <p:sldId id="281" r:id="rId11"/>
    <p:sldId id="282" r:id="rId12"/>
    <p:sldId id="259" r:id="rId13"/>
    <p:sldId id="280" r:id="rId14"/>
    <p:sldId id="260" r:id="rId15"/>
    <p:sldId id="262" r:id="rId16"/>
    <p:sldId id="265" r:id="rId17"/>
    <p:sldId id="266" r:id="rId18"/>
    <p:sldId id="269" r:id="rId19"/>
    <p:sldId id="283" r:id="rId20"/>
    <p:sldId id="267" r:id="rId21"/>
    <p:sldId id="268" r:id="rId22"/>
    <p:sldId id="270" r:id="rId23"/>
    <p:sldId id="271" r:id="rId24"/>
    <p:sldId id="272" r:id="rId25"/>
    <p:sldId id="275" r:id="rId26"/>
    <p:sldId id="263" r:id="rId27"/>
    <p:sldId id="278"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46">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10" y="-96"/>
      </p:cViewPr>
      <p:guideLst>
        <p:guide orient="horz" pos="2146"/>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4AD3E5-00FC-4FFF-8DF6-CBEA967537B2}" type="datetimeFigureOut">
              <a:rPr lang="en-IN" smtClean="0"/>
              <a:pPr/>
              <a:t>11-06-2020</a:t>
            </a:fld>
            <a:endParaRPr lang="en-IN"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B28C79-9662-435B-B8E8-327974A83C48}" type="slidenum">
              <a:rPr lang="en-IN" smtClean="0"/>
              <a:pPr/>
              <a:t>‹#›</a:t>
            </a:fld>
            <a:endParaRPr lang="en-IN" dirty="0"/>
          </a:p>
        </p:txBody>
      </p:sp>
    </p:spTree>
    <p:extLst>
      <p:ext uri="{BB962C8B-B14F-4D97-AF65-F5344CB8AC3E}">
        <p14:creationId xmlns="" xmlns:p14="http://schemas.microsoft.com/office/powerpoint/2010/main" val="1749708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FB28C79-9662-435B-B8E8-327974A83C48}" type="slidenum">
              <a:rPr lang="en-IN" smtClean="0"/>
              <a:pPr/>
              <a:t>1</a:t>
            </a:fld>
            <a:endParaRPr lang="en-IN" dirty="0"/>
          </a:p>
        </p:txBody>
      </p:sp>
    </p:spTree>
    <p:extLst>
      <p:ext uri="{BB962C8B-B14F-4D97-AF65-F5344CB8AC3E}">
        <p14:creationId xmlns="" xmlns:p14="http://schemas.microsoft.com/office/powerpoint/2010/main" val="8650705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135"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8" name="Freeform 7"/>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Freeform 10"/>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dirty="0"/>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lstStyle>
          <a:p>
            <a:fld id="{A8BE5428-B1A7-4B89-9932-1430F7D67189}" type="datetimeFigureOut">
              <a:rPr lang="en-US" smtClean="0"/>
              <a:pPr/>
              <a:t>11/06/2020</a:t>
            </a:fld>
            <a:endParaRPr lang="en-US" dirty="0"/>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lstStyle>
          <a:p>
            <a:endParaRPr lang="en-US" dirty="0"/>
          </a:p>
        </p:txBody>
      </p:sp>
      <p:sp>
        <p:nvSpPr>
          <p:cNvPr id="27" name="Slide Number Placeholder 26"/>
          <p:cNvSpPr>
            <a:spLocks noGrp="1"/>
          </p:cNvSpPr>
          <p:nvPr>
            <p:ph type="sldNum" sz="quarter" idx="12"/>
          </p:nvPr>
        </p:nvSpPr>
        <p:spPr/>
        <p:txBody>
          <a:bodyPr/>
          <a:lstStyle>
            <a:lvl1pPr>
              <a:defRPr>
                <a:solidFill>
                  <a:srgbClr val="FFFFFF"/>
                </a:solidFill>
              </a:defRPr>
            </a:lvl1pPr>
          </a:lstStyle>
          <a:p>
            <a:fld id="{841F031F-E714-4C85-88EF-53E267C2A07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8BE5428-B1A7-4B89-9932-1430F7D67189}" type="datetimeFigureOut">
              <a:rPr lang="en-US" smtClean="0"/>
              <a:pPr/>
              <a:t>11/06/2020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41F031F-E714-4C85-88EF-53E267C2A079}" type="slidenum">
              <a:rPr lang="en-US" smtClean="0"/>
              <a:pPr/>
              <a:t>‹#›</a:t>
            </a:fld>
            <a:endParaRPr lang="en-US" dirty="0"/>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A8BE5428-B1A7-4B89-9932-1430F7D67189}" type="datetimeFigureOut">
              <a:rPr lang="en-US" smtClean="0"/>
              <a:pPr/>
              <a:t>11/06/2020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41F031F-E714-4C85-88EF-53E267C2A079}" type="slidenum">
              <a:rPr lang="en-US" smtClean="0"/>
              <a:pPr/>
              <a:t>‹#›</a:t>
            </a:fld>
            <a:endParaRPr lang="en-US" dirty="0"/>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A8BE5428-B1A7-4B89-9932-1430F7D67189}" type="datetimeFigureOut">
              <a:rPr lang="en-US" smtClean="0"/>
              <a:pPr/>
              <a:t>11/06/2020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41F031F-E714-4C85-88EF-53E267C2A079}" type="slidenum">
              <a:rPr lang="en-US" smtClean="0"/>
              <a:pPr/>
              <a:t>‹#›</a:t>
            </a:fld>
            <a:endParaRPr lang="en-US" dirty="0"/>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A8BE5428-B1A7-4B89-9932-1430F7D67189}" type="datetimeFigureOut">
              <a:rPr lang="en-US" smtClean="0"/>
              <a:pPr/>
              <a:t>11/06/2020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41F031F-E714-4C85-88EF-53E267C2A079}"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A8BE5428-B1A7-4B89-9932-1430F7D67189}" type="datetimeFigureOut">
              <a:rPr lang="en-US" smtClean="0"/>
              <a:pPr/>
              <a:t>11/06/2020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41F031F-E714-4C85-88EF-53E267C2A079}" type="slidenum">
              <a:rPr lang="en-US" smtClean="0"/>
              <a:pPr/>
              <a:t>‹#›</a:t>
            </a:fld>
            <a:endParaRPr lang="en-US" dirty="0"/>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BE5428-B1A7-4B89-9932-1430F7D67189}" type="datetimeFigureOut">
              <a:rPr lang="en-US" smtClean="0"/>
              <a:pPr/>
              <a:t>11/06/2020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41F031F-E714-4C85-88EF-53E267C2A07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A8BE5428-B1A7-4B89-9932-1430F7D67189}" type="datetimeFigureOut">
              <a:rPr lang="en-US" smtClean="0"/>
              <a:pPr/>
              <a:t>11/06/2020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41F031F-E714-4C85-88EF-53E267C2A079}"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415" indent="0" algn="r">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lstStyle>
          <a:p>
            <a:r>
              <a:rPr kumimoji="0" lang="en-US" dirty="0"/>
              <a:t>Click icon to add picture</a:t>
            </a:r>
          </a:p>
        </p:txBody>
      </p:sp>
      <p:sp>
        <p:nvSpPr>
          <p:cNvPr id="5" name="Date Placeholder 4"/>
          <p:cNvSpPr>
            <a:spLocks noGrp="1"/>
          </p:cNvSpPr>
          <p:nvPr>
            <p:ph type="dt" sz="half" idx="10"/>
          </p:nvPr>
        </p:nvSpPr>
        <p:spPr/>
        <p:txBody>
          <a:bodyPr/>
          <a:lstStyle>
            <a:lvl1pPr>
              <a:defRPr>
                <a:solidFill>
                  <a:schemeClr val="tx1"/>
                </a:solidFill>
              </a:defRPr>
            </a:lvl1pPr>
          </a:lstStyle>
          <a:p>
            <a:fld id="{A8BE5428-B1A7-4B89-9932-1430F7D67189}" type="datetimeFigureOut">
              <a:rPr lang="en-US" smtClean="0"/>
              <a:pPr/>
              <a:t>11/06/2020</a:t>
            </a:fld>
            <a:endParaRPr lang="en-US" dirty="0"/>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841F031F-E714-4C85-88EF-53E267C2A079}" type="slidenum">
              <a:rPr lang="en-US" smtClean="0"/>
              <a:pPr/>
              <a:t>‹#›</a:t>
            </a:fld>
            <a:endParaRPr lang="en-US"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lstStyle>
          <a:p>
            <a:r>
              <a:rPr kumimoji="0" lang="en-US"/>
              <a:t>Click to edit Master title style</a:t>
            </a:r>
          </a:p>
        </p:txBody>
      </p:sp>
      <p:sp>
        <p:nvSpPr>
          <p:cNvPr id="8" name="Freeform 7"/>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Freeform 8"/>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Right Triangle 9"/>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dirty="0"/>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8BE5428-B1A7-4B89-9932-1430F7D67189}" type="datetimeFigureOut">
              <a:rPr lang="en-US" smtClean="0"/>
              <a:pPr/>
              <a:t>11/06/2020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41F031F-E714-4C85-88EF-53E267C2A07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8BE5428-B1A7-4B89-9932-1430F7D67189}" type="datetimeFigureOut">
              <a:rPr lang="en-US" smtClean="0"/>
              <a:pPr/>
              <a:t>11/06/2020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41F031F-E714-4C85-88EF-53E267C2A07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2" name="Freeform 11"/>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4" name="Right Triangle 13"/>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dirty="0"/>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lstStyle>
          <a:p>
            <a:fld id="{A8BE5428-B1A7-4B89-9932-1430F7D67189}" type="datetimeFigureOut">
              <a:rPr lang="en-US" smtClean="0"/>
              <a:pPr/>
              <a:t>11/06/2020</a:t>
            </a:fld>
            <a:endParaRPr lang="en-US" dirty="0"/>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lstStyle>
          <a:p>
            <a:endParaRPr lang="en-US" dirty="0"/>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lstStyle>
          <a:p>
            <a:fld id="{841F031F-E714-4C85-88EF-53E267C2A07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p:titleStyle>
    <p:bodyStyle>
      <a:lvl1pPr marL="365760" indent="-255905"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665" indent="-228600" algn="l" rtl="0" eaLnBrk="1" latinLnBrk="0" hangingPunct="1">
        <a:spcBef>
          <a:spcPts val="325"/>
        </a:spcBef>
        <a:buClr>
          <a:schemeClr val="accent1"/>
        </a:buClr>
        <a:buFont typeface="Verdana" panose="020B0604030504040204"/>
        <a:buChar char="◦"/>
        <a:defRPr kumimoji="0" sz="2300" kern="1200">
          <a:solidFill>
            <a:schemeClr val="tx1"/>
          </a:solidFill>
          <a:latin typeface="+mn-lt"/>
          <a:ea typeface="+mn-ea"/>
          <a:cs typeface="+mn-cs"/>
        </a:defRPr>
      </a:lvl2pPr>
      <a:lvl3pPr marL="859790"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1523"/>
            <a:ext cx="7772400" cy="1247140"/>
          </a:xfrm>
        </p:spPr>
        <p:txBody>
          <a:bodyPr>
            <a:scene3d>
              <a:camera prst="orthographicFront"/>
              <a:lightRig rig="soft" dir="t"/>
            </a:scene3d>
            <a:sp3d prstMaterial="softEdge">
              <a:bevelT w="25400" h="25400"/>
            </a:sp3d>
          </a:bodyPr>
          <a:lstStyle/>
          <a:p>
            <a:pPr algn="ctr"/>
            <a:r>
              <a:rPr lang="en-IN" altLang="en-US" sz="5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SIXTH SENSE DEVICE </a:t>
            </a:r>
          </a:p>
        </p:txBody>
      </p:sp>
      <p:sp>
        <p:nvSpPr>
          <p:cNvPr id="3" name="Subtitle 2"/>
          <p:cNvSpPr>
            <a:spLocks noGrp="1"/>
          </p:cNvSpPr>
          <p:nvPr>
            <p:ph type="subTitle" idx="1"/>
          </p:nvPr>
        </p:nvSpPr>
        <p:spPr>
          <a:xfrm>
            <a:off x="657520" y="4312860"/>
            <a:ext cx="7772400" cy="1072515"/>
          </a:xfrm>
        </p:spPr>
        <p:txBody>
          <a:bodyPr>
            <a:normAutofit/>
          </a:bodyPr>
          <a:lstStyle/>
          <a:p>
            <a:pPr algn="ctr"/>
            <a:r>
              <a:rPr lang="en-IN" altLang="en-US" sz="2000" b="1" dirty="0">
                <a:latin typeface="Arial" panose="020B0604020202020204" pitchFamily="34" charset="0"/>
                <a:cs typeface="Arial" panose="020B0604020202020204" pitchFamily="34" charset="0"/>
              </a:rPr>
              <a:t>Project Guide : Prof. Harshali Zodpe </a:t>
            </a:r>
          </a:p>
          <a:p>
            <a:pPr algn="ctr"/>
            <a:endParaRPr lang="en-IN" altLang="en-US" sz="2000" b="1" dirty="0">
              <a:latin typeface="Arial" panose="020B0604020202020204" pitchFamily="34" charset="0"/>
              <a:cs typeface="Arial" panose="020B0604020202020204" pitchFamily="34" charset="0"/>
            </a:endParaRPr>
          </a:p>
          <a:p>
            <a:pPr algn="ctr"/>
            <a:endParaRPr lang="en-IN" altLang="en-US" sz="2000"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 xmlns:a16="http://schemas.microsoft.com/office/drawing/2014/main" id="{7EA23FD8-1DF3-4720-8D73-72A87147E748}"/>
              </a:ext>
            </a:extLst>
          </p:cNvPr>
          <p:cNvSpPr/>
          <p:nvPr/>
        </p:nvSpPr>
        <p:spPr>
          <a:xfrm>
            <a:off x="2286000" y="2362200"/>
            <a:ext cx="4572000" cy="1569660"/>
          </a:xfrm>
          <a:prstGeom prst="rect">
            <a:avLst/>
          </a:prstGeom>
        </p:spPr>
        <p:txBody>
          <a:bodyPr>
            <a:spAutoFit/>
          </a:bodyPr>
          <a:lstStyle/>
          <a:p>
            <a:pPr algn="ctr"/>
            <a:r>
              <a:rPr lang="en-US" sz="2400" dirty="0">
                <a:latin typeface="Arial" pitchFamily="34" charset="0"/>
                <a:cs typeface="Arial" pitchFamily="34" charset="0"/>
              </a:rPr>
              <a:t>Presented By:</a:t>
            </a:r>
          </a:p>
          <a:p>
            <a:pPr algn="ctr"/>
            <a:r>
              <a:rPr lang="en-US" sz="2400" dirty="0">
                <a:latin typeface="Arial" pitchFamily="34" charset="0"/>
                <a:cs typeface="Arial" pitchFamily="34" charset="0"/>
              </a:rPr>
              <a:t>Ankita A. Gothi (71700218H)</a:t>
            </a:r>
          </a:p>
          <a:p>
            <a:pPr algn="ctr"/>
            <a:r>
              <a:rPr lang="en-US" sz="2400" dirty="0">
                <a:latin typeface="Arial" pitchFamily="34" charset="0"/>
                <a:cs typeface="Arial" pitchFamily="34" charset="0"/>
              </a:rPr>
              <a:t>Riya S. Huddar (71700231E)</a:t>
            </a:r>
          </a:p>
          <a:p>
            <a:pPr algn="ctr"/>
            <a:endParaRPr lang="en-US" sz="2400" dirty="0">
              <a:latin typeface="Arial" pitchFamily="34" charset="0"/>
              <a:cs typeface="Arial" pitchFamily="34" charset="0"/>
            </a:endParaRPr>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wipe(down)">
                                      <p:cBhvr>
                                        <p:cTn id="14" dur="500"/>
                                        <p:tgtEl>
                                          <p:spTgt spid="3">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down)">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1447800"/>
            <a:ext cx="8229600" cy="4525963"/>
          </a:xfrm>
        </p:spPr>
        <p:txBody>
          <a:bodyPr/>
          <a:lstStyle/>
          <a:p>
            <a:pPr marL="109855" indent="0" algn="just">
              <a:buNone/>
            </a:pPr>
            <a:r>
              <a:rPr lang="en-IN" altLang="en-US" dirty="0"/>
              <a:t>Hand Gesture Recognition based Image capture</a:t>
            </a:r>
          </a:p>
          <a:p>
            <a:pPr marL="109855" indent="0" algn="just">
              <a:buNone/>
            </a:pPr>
            <a:r>
              <a:rPr lang="en-IN" altLang="en-US" dirty="0"/>
              <a:t>application of Sixth Sense Device was developed and tested during SEM-1.  </a:t>
            </a:r>
          </a:p>
          <a:p>
            <a:pPr marL="109855" indent="0">
              <a:buNone/>
            </a:pPr>
            <a:endParaRPr lang="en-IN" altLang="en-US" dirty="0"/>
          </a:p>
        </p:txBody>
      </p:sp>
      <p:sp>
        <p:nvSpPr>
          <p:cNvPr id="4" name="TextBox 3">
            <a:extLst>
              <a:ext uri="{FF2B5EF4-FFF2-40B4-BE49-F238E27FC236}">
                <a16:creationId xmlns="" xmlns:a16="http://schemas.microsoft.com/office/drawing/2014/main" id="{7A738A8A-2ABD-4142-929B-5D5A92D14DE7}"/>
              </a:ext>
            </a:extLst>
          </p:cNvPr>
          <p:cNvSpPr txBox="1"/>
          <p:nvPr/>
        </p:nvSpPr>
        <p:spPr>
          <a:xfrm>
            <a:off x="647700" y="496766"/>
            <a:ext cx="7848600" cy="707886"/>
          </a:xfrm>
          <a:prstGeom prst="rect">
            <a:avLst/>
          </a:prstGeom>
          <a:noFill/>
        </p:spPr>
        <p:txBody>
          <a:bodyPr wrap="square" rtlCol="0">
            <a:spAutoFit/>
          </a:bodyPr>
          <a:lstStyle/>
          <a:p>
            <a:pPr algn="ctr"/>
            <a:r>
              <a:rPr lang="en-IN" sz="4000" b="1" dirty="0">
                <a:latin typeface="Arial" panose="020B0604020202020204" pitchFamily="34" charset="0"/>
                <a:cs typeface="Arial" panose="020B0604020202020204" pitchFamily="34" charset="0"/>
              </a:rPr>
              <a:t>Work completed during </a:t>
            </a:r>
            <a:r>
              <a:rPr lang="en-IN" sz="4000" b="1" dirty="0" smtClean="0">
                <a:latin typeface="Arial" panose="020B0604020202020204" pitchFamily="34" charset="0"/>
                <a:cs typeface="Arial" panose="020B0604020202020204" pitchFamily="34" charset="0"/>
              </a:rPr>
              <a:t>SEM-1</a:t>
            </a:r>
            <a:endParaRPr lang="en-IN" sz="4000" b="1" dirty="0">
              <a:solidFill>
                <a:srgbClr val="FF0000"/>
              </a:solidFill>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856" y="1219201"/>
            <a:ext cx="6019800" cy="3276600"/>
          </a:xfrm>
        </p:spPr>
        <p:txBody>
          <a:bodyPr>
            <a:noAutofit/>
          </a:bodyPr>
          <a:lstStyle/>
          <a:p>
            <a:pPr algn="just">
              <a:buFont typeface="Wingdings" panose="05000000000000000000" charset="0"/>
              <a:buChar char="§"/>
            </a:pPr>
            <a:r>
              <a:rPr lang="en-US" sz="2400" dirty="0">
                <a:latin typeface="Arial" panose="020B0604020202020204" pitchFamily="34" charset="0"/>
                <a:cs typeface="Arial" panose="020B0604020202020204" pitchFamily="34" charset="0"/>
              </a:rPr>
              <a:t>Sixth Sense is a wearable gesture interface that augments the physical world with digital world around us. The information can be displayed on any surface like walls etc. thus making entire world your computer.</a:t>
            </a:r>
          </a:p>
          <a:p>
            <a:pPr marL="109855" indent="0" algn="just">
              <a:buNone/>
            </a:pPr>
            <a:r>
              <a:rPr lang="en-US" sz="2400" dirty="0">
                <a:latin typeface="Arial" panose="020B0604020202020204" pitchFamily="34" charset="0"/>
                <a:cs typeface="Arial" panose="020B0604020202020204" pitchFamily="34" charset="0"/>
              </a:rPr>
              <a:t> </a:t>
            </a:r>
          </a:p>
          <a:p>
            <a:pPr algn="just">
              <a:buFont typeface="Wingdings" panose="05000000000000000000" charset="0"/>
              <a:buChar char="§"/>
            </a:pPr>
            <a:r>
              <a:rPr lang="en-US" sz="2400" dirty="0">
                <a:latin typeface="Arial" panose="020B0604020202020204" pitchFamily="34" charset="0"/>
                <a:cs typeface="Arial" panose="020B0604020202020204" pitchFamily="34" charset="0"/>
              </a:rPr>
              <a:t>The Sixth Sense prototype is used to implement several applications that have shown the usefulness, viability and flexibility of the system. </a:t>
            </a:r>
          </a:p>
        </p:txBody>
      </p:sp>
      <p:sp>
        <p:nvSpPr>
          <p:cNvPr id="4" name="TextBox 3">
            <a:extLst>
              <a:ext uri="{FF2B5EF4-FFF2-40B4-BE49-F238E27FC236}">
                <a16:creationId xmlns="" xmlns:a16="http://schemas.microsoft.com/office/drawing/2014/main" id="{67D28174-43A2-4FB7-B05C-14F7E8A30918}"/>
              </a:ext>
            </a:extLst>
          </p:cNvPr>
          <p:cNvSpPr txBox="1"/>
          <p:nvPr/>
        </p:nvSpPr>
        <p:spPr>
          <a:xfrm>
            <a:off x="2827256" y="304800"/>
            <a:ext cx="3200400" cy="707886"/>
          </a:xfrm>
          <a:prstGeom prst="rect">
            <a:avLst/>
          </a:prstGeom>
          <a:noFill/>
        </p:spPr>
        <p:txBody>
          <a:bodyPr wrap="square" rtlCol="0">
            <a:spAutoFit/>
          </a:bodyPr>
          <a:lstStyle/>
          <a:p>
            <a:pPr algn="ctr"/>
            <a:r>
              <a:rPr lang="en-IN" sz="4000" b="1" dirty="0">
                <a:latin typeface="Arial" panose="020B0604020202020204" pitchFamily="34" charset="0"/>
                <a:cs typeface="Arial" panose="020B0604020202020204" pitchFamily="34" charset="0"/>
              </a:rPr>
              <a:t>Abstract</a:t>
            </a:r>
          </a:p>
        </p:txBody>
      </p:sp>
      <p:pic>
        <p:nvPicPr>
          <p:cNvPr id="5" name="Picture 2">
            <a:extLst>
              <a:ext uri="{FF2B5EF4-FFF2-40B4-BE49-F238E27FC236}">
                <a16:creationId xmlns="" xmlns:a16="http://schemas.microsoft.com/office/drawing/2014/main" id="{D6667697-554F-4C07-AC30-3AB19DDB8F6A}"/>
              </a:ext>
            </a:extLst>
          </p:cNvPr>
          <p:cNvPicPr>
            <a:picLocks noChangeAspect="1" noChangeArrowheads="1"/>
          </p:cNvPicPr>
          <p:nvPr/>
        </p:nvPicPr>
        <p:blipFill>
          <a:blip r:embed="rId2"/>
          <a:srcRect/>
          <a:stretch>
            <a:fillRect/>
          </a:stretch>
        </p:blipFill>
        <p:spPr bwMode="auto">
          <a:xfrm>
            <a:off x="6172200" y="1676400"/>
            <a:ext cx="2651197" cy="2819400"/>
          </a:xfrm>
          <a:prstGeom prst="rect">
            <a:avLst/>
          </a:prstGeom>
          <a:noFill/>
          <a:ln w="9525">
            <a:noFill/>
            <a:miter lim="800000"/>
            <a:headEnd/>
            <a:tailEnd/>
          </a:ln>
          <a:effectLst/>
        </p:spPr>
      </p:pic>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 xmlns:a16="http://schemas.microsoft.com/office/drawing/2014/main" id="{0BA44AD7-2A51-4087-A4A0-6FE2DE914E47}"/>
              </a:ext>
            </a:extLst>
          </p:cNvPr>
          <p:cNvSpPr txBox="1">
            <a:spLocks/>
          </p:cNvSpPr>
          <p:nvPr/>
        </p:nvSpPr>
        <p:spPr>
          <a:xfrm>
            <a:off x="152400" y="1041975"/>
            <a:ext cx="8229600" cy="1828800"/>
          </a:xfrm>
          <a:prstGeom prst="rect">
            <a:avLst/>
          </a:prstGeom>
        </p:spPr>
        <p:txBody>
          <a:bodyPr vert="horz">
            <a:normAutofit fontScale="92500" lnSpcReduction="10000"/>
          </a:bodyPr>
          <a:lstStyle>
            <a:lvl1pPr marL="365760" indent="-255905"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665" indent="-228600" algn="l" rtl="0" eaLnBrk="1" latinLnBrk="0" hangingPunct="1">
              <a:spcBef>
                <a:spcPts val="325"/>
              </a:spcBef>
              <a:buClr>
                <a:schemeClr val="accent1"/>
              </a:buClr>
              <a:buFont typeface="Verdana" panose="020B0604030504040204"/>
              <a:buChar char="◦"/>
              <a:defRPr kumimoji="0" sz="2300" kern="1200">
                <a:solidFill>
                  <a:schemeClr val="tx1"/>
                </a:solidFill>
                <a:latin typeface="+mn-lt"/>
                <a:ea typeface="+mn-ea"/>
                <a:cs typeface="+mn-cs"/>
              </a:defRPr>
            </a:lvl2pPr>
            <a:lvl3pPr marL="859790"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lstStyle>
          <a:p>
            <a:pPr algn="ctr">
              <a:buFont typeface="Wingdings 3"/>
              <a:buNone/>
            </a:pPr>
            <a:endParaRPr lang="en-US" b="1" dirty="0">
              <a:latin typeface="Arial" pitchFamily="34" charset="0"/>
              <a:cs typeface="Arial" pitchFamily="34" charset="0"/>
            </a:endParaRPr>
          </a:p>
          <a:p>
            <a:pPr algn="just">
              <a:buFont typeface="Wingdings 3"/>
              <a:buNone/>
            </a:pPr>
            <a:r>
              <a:rPr lang="en-US" dirty="0">
                <a:latin typeface="Arial" pitchFamily="34" charset="0"/>
                <a:cs typeface="Arial" pitchFamily="34" charset="0"/>
              </a:rPr>
              <a:t>  </a:t>
            </a:r>
            <a:r>
              <a:rPr lang="en-US" sz="2400" dirty="0">
                <a:latin typeface="Arial" pitchFamily="34" charset="0"/>
                <a:cs typeface="Arial" pitchFamily="34" charset="0"/>
              </a:rPr>
              <a:t>The basic aim of this project is to create a </a:t>
            </a:r>
            <a:r>
              <a:rPr lang="en-US" sz="2400" b="1" dirty="0">
                <a:latin typeface="Arial" pitchFamily="34" charset="0"/>
                <a:cs typeface="Arial" pitchFamily="34" charset="0"/>
              </a:rPr>
              <a:t>SIXTH  SENSE DEVICE</a:t>
            </a:r>
            <a:r>
              <a:rPr lang="en-US" sz="2400" dirty="0">
                <a:latin typeface="Arial" pitchFamily="34" charset="0"/>
                <a:cs typeface="Arial" pitchFamily="34" charset="0"/>
              </a:rPr>
              <a:t> which works on the principle of Gesture Recognition and Image Processing and to be able to incorporate digital world in the physical world.</a:t>
            </a:r>
          </a:p>
          <a:p>
            <a:pPr algn="just">
              <a:buFont typeface="Wingdings 3"/>
              <a:buNone/>
            </a:pPr>
            <a:endParaRPr lang="en-US" sz="2400" dirty="0">
              <a:latin typeface="Arial" pitchFamily="34" charset="0"/>
              <a:cs typeface="Arial" pitchFamily="34" charset="0"/>
            </a:endParaRPr>
          </a:p>
          <a:p>
            <a:pPr algn="just">
              <a:buFont typeface="Wingdings 3"/>
              <a:buNone/>
            </a:pPr>
            <a:endParaRPr lang="en-US" dirty="0">
              <a:latin typeface="Arial" pitchFamily="34" charset="0"/>
              <a:cs typeface="Arial" pitchFamily="34" charset="0"/>
            </a:endParaRPr>
          </a:p>
        </p:txBody>
      </p:sp>
      <p:sp>
        <p:nvSpPr>
          <p:cNvPr id="5" name="TextBox 4">
            <a:extLst>
              <a:ext uri="{FF2B5EF4-FFF2-40B4-BE49-F238E27FC236}">
                <a16:creationId xmlns="" xmlns:a16="http://schemas.microsoft.com/office/drawing/2014/main" id="{71635FBE-A528-4FDC-B1A0-3CFCF20A0029}"/>
              </a:ext>
            </a:extLst>
          </p:cNvPr>
          <p:cNvSpPr txBox="1"/>
          <p:nvPr/>
        </p:nvSpPr>
        <p:spPr>
          <a:xfrm>
            <a:off x="1295400" y="457200"/>
            <a:ext cx="6248400" cy="584775"/>
          </a:xfrm>
          <a:prstGeom prst="rect">
            <a:avLst/>
          </a:prstGeom>
          <a:noFill/>
        </p:spPr>
        <p:txBody>
          <a:bodyPr wrap="square" rtlCol="0">
            <a:spAutoFit/>
          </a:bodyPr>
          <a:lstStyle/>
          <a:p>
            <a:pPr algn="ctr"/>
            <a:r>
              <a:rPr lang="en-US" sz="3200" b="1" dirty="0">
                <a:latin typeface="Arial" pitchFamily="34" charset="0"/>
                <a:cs typeface="Arial" pitchFamily="34" charset="0"/>
              </a:rPr>
              <a:t>BASIC AIM</a:t>
            </a:r>
          </a:p>
        </p:txBody>
      </p:sp>
      <p:pic>
        <p:nvPicPr>
          <p:cNvPr id="6" name="Picture 4" descr="C:\Users\Huddar\Desktop\s2.jpg">
            <a:extLst>
              <a:ext uri="{FF2B5EF4-FFF2-40B4-BE49-F238E27FC236}">
                <a16:creationId xmlns="" xmlns:a16="http://schemas.microsoft.com/office/drawing/2014/main" id="{D7DF3741-E5EE-4655-884C-D90F0949E10E}"/>
              </a:ext>
            </a:extLst>
          </p:cNvPr>
          <p:cNvPicPr>
            <a:picLocks noChangeAspect="1" noChangeArrowheads="1"/>
          </p:cNvPicPr>
          <p:nvPr/>
        </p:nvPicPr>
        <p:blipFill>
          <a:blip r:embed="rId2"/>
          <a:srcRect/>
          <a:stretch>
            <a:fillRect/>
          </a:stretch>
        </p:blipFill>
        <p:spPr bwMode="auto">
          <a:xfrm>
            <a:off x="2590800" y="2870775"/>
            <a:ext cx="4267200" cy="3200400"/>
          </a:xfrm>
          <a:prstGeom prst="rect">
            <a:avLst/>
          </a:prstGeom>
          <a:noFill/>
        </p:spPr>
      </p:pic>
    </p:spTree>
    <p:extLst>
      <p:ext uri="{BB962C8B-B14F-4D97-AF65-F5344CB8AC3E}">
        <p14:creationId xmlns="" xmlns:p14="http://schemas.microsoft.com/office/powerpoint/2010/main" val="213738346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1295400"/>
            <a:ext cx="8229600" cy="5181600"/>
          </a:xfrm>
        </p:spPr>
        <p:txBody>
          <a:bodyPr>
            <a:noAutofit/>
          </a:bodyPr>
          <a:lstStyle/>
          <a:p>
            <a:pPr algn="just">
              <a:lnSpc>
                <a:spcPct val="160000"/>
              </a:lnSpc>
            </a:pPr>
            <a:r>
              <a:rPr lang="en-US" sz="2000" dirty="0" smtClean="0">
                <a:latin typeface="Arial" pitchFamily="34" charset="0"/>
                <a:cs typeface="Arial" pitchFamily="34" charset="0"/>
              </a:rPr>
              <a:t>The sixth sense technology was developed by Pranav Mistry. At present the commercial product isn’t launched but the prototype is prepared. Sixth Sense technology acts as bridge between physical and digital world. It enables us to interact with our surroundings with the help of gestures.</a:t>
            </a:r>
          </a:p>
          <a:p>
            <a:pPr algn="just">
              <a:lnSpc>
                <a:spcPct val="160000"/>
              </a:lnSpc>
            </a:pPr>
            <a:r>
              <a:rPr lang="en-US" sz="2000" dirty="0" smtClean="0">
                <a:latin typeface="Arial" pitchFamily="34" charset="0"/>
                <a:cs typeface="Arial" pitchFamily="34" charset="0"/>
              </a:rPr>
              <a:t>Dynamic Gesture recognition requires accurate and fast recognition.</a:t>
            </a:r>
            <a:r>
              <a:rPr lang="en-US" sz="2000" dirty="0">
                <a:latin typeface="Arial" pitchFamily="34" charset="0"/>
                <a:cs typeface="Arial" pitchFamily="34" charset="0"/>
              </a:rPr>
              <a:t> </a:t>
            </a:r>
            <a:r>
              <a:rPr lang="en-US" sz="2000" dirty="0" smtClean="0">
                <a:latin typeface="Arial" pitchFamily="34" charset="0"/>
                <a:cs typeface="Arial" pitchFamily="34" charset="0"/>
              </a:rPr>
              <a:t>Gesture recognition using flex sensors provide low accuracy whereas Gesture recognition using DWT requires more time. Image processing technique proposed in this system proves to be most efficient technique for Gesture Recognition and Drawing Application.</a:t>
            </a:r>
          </a:p>
        </p:txBody>
      </p:sp>
      <p:sp>
        <p:nvSpPr>
          <p:cNvPr id="3" name="Title 2"/>
          <p:cNvSpPr>
            <a:spLocks noGrp="1"/>
          </p:cNvSpPr>
          <p:nvPr>
            <p:ph type="title"/>
          </p:nvPr>
        </p:nvSpPr>
        <p:spPr>
          <a:xfrm>
            <a:off x="457200" y="304800"/>
            <a:ext cx="8229600" cy="1143000"/>
          </a:xfrm>
        </p:spPr>
        <p:txBody>
          <a:bodyPr>
            <a:noAutofit/>
          </a:bodyPr>
          <a:lstStyle/>
          <a:p>
            <a:pPr algn="ctr"/>
            <a:r>
              <a:rPr lang="en-US" sz="3600" dirty="0" smtClean="0">
                <a:solidFill>
                  <a:schemeClr val="tx1"/>
                </a:solidFill>
                <a:latin typeface="Arial" pitchFamily="34" charset="0"/>
                <a:cs typeface="Arial" pitchFamily="34" charset="0"/>
              </a:rPr>
              <a:t>Motivation</a:t>
            </a:r>
            <a:endParaRPr lang="en-US" sz="3600" dirty="0">
              <a:solidFill>
                <a:schemeClr val="tx1"/>
              </a:solidFill>
              <a:latin typeface="Arial" pitchFamily="34" charset="0"/>
              <a:cs typeface="Arial" pitchFamily="34" charset="0"/>
            </a:endParaRPr>
          </a:p>
        </p:txBody>
      </p:sp>
    </p:spTree>
    <p:extLst>
      <p:ext uri="{BB962C8B-B14F-4D97-AF65-F5344CB8AC3E}">
        <p14:creationId xmlns="" xmlns:p14="http://schemas.microsoft.com/office/powerpoint/2010/main" val="26354049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457200" y="838200"/>
            <a:ext cx="8305800" cy="5674360"/>
          </a:xfrm>
        </p:spPr>
        <p:txBody>
          <a:bodyPr>
            <a:noAutofit/>
          </a:bodyPr>
          <a:lstStyle/>
          <a:p>
            <a:pPr algn="just">
              <a:buFont typeface="Wingdings" panose="05000000000000000000" pitchFamily="2" charset="2"/>
              <a:buChar char="§"/>
            </a:pPr>
            <a:r>
              <a:rPr lang="en-US" sz="1800" dirty="0">
                <a:latin typeface="Arial" panose="020B0604020202020204" pitchFamily="34" charset="0"/>
                <a:cs typeface="Arial" panose="020B0604020202020204" pitchFamily="34" charset="0"/>
              </a:rPr>
              <a:t>Sixth Sense technology is implemented in 'Sixth Sense/WUW (Wear Your World) using gesture recognition, augmented reality, computer vision and radio frequency identification [1]. </a:t>
            </a:r>
          </a:p>
          <a:p>
            <a:pPr algn="just">
              <a:buFont typeface="Wingdings" panose="05000000000000000000" pitchFamily="2" charset="2"/>
              <a:buChar char="§"/>
            </a:pPr>
            <a:r>
              <a:rPr lang="en-US" sz="1800" dirty="0">
                <a:latin typeface="Arial" panose="020B0604020202020204" pitchFamily="34" charset="0"/>
                <a:cs typeface="Arial" panose="020B0604020202020204" pitchFamily="34" charset="0"/>
              </a:rPr>
              <a:t>Gesture recognition can be implemented by three techniques viz. static and real-time using image processing techniques and flex sensor techniques. The recognition rate of gesture recognition using flex sensors is found to be 86% whereas the recognition rate of other two gesture recognition techniques is Highly Accurate (provided with good lighting condition and clear white background) [2].</a:t>
            </a:r>
          </a:p>
          <a:p>
            <a:pPr algn="just">
              <a:buFont typeface="Wingdings" panose="05000000000000000000" pitchFamily="2" charset="2"/>
              <a:buChar char="§"/>
            </a:pPr>
            <a:r>
              <a:rPr lang="en-US" sz="1800" dirty="0">
                <a:latin typeface="Arial" panose="020B0604020202020204" pitchFamily="34" charset="0"/>
                <a:cs typeface="Arial" panose="020B0604020202020204" pitchFamily="34" charset="0"/>
              </a:rPr>
              <a:t>Another approach for hand gesture recognition involves Hidden Markov Model [3]. The Hidden Markov Model (HMM) performs fingertip detection and tracking of dynamic videos, but it is not enough in HCI applications..</a:t>
            </a:r>
          </a:p>
          <a:p>
            <a:pPr algn="just">
              <a:buFont typeface="Wingdings" panose="05000000000000000000" pitchFamily="2" charset="2"/>
              <a:buChar char="§"/>
            </a:pPr>
            <a:r>
              <a:rPr lang="en-US" sz="1800" dirty="0">
                <a:latin typeface="Arial" panose="020B0604020202020204" pitchFamily="34" charset="0"/>
                <a:cs typeface="Arial" panose="020B0604020202020204" pitchFamily="34" charset="0"/>
              </a:rPr>
              <a:t>Another approach is proposed for hand gesture recognition that is accomplished by dominant points based hand ﬁnger counting under skin color extraction. [4]. </a:t>
            </a:r>
            <a:endParaRPr lang="en-US" sz="1800" dirty="0" smtClean="0">
              <a:latin typeface="Arial" panose="020B0604020202020204" pitchFamily="34" charset="0"/>
              <a:cs typeface="Arial" panose="020B0604020202020204" pitchFamily="34" charset="0"/>
            </a:endParaRPr>
          </a:p>
          <a:p>
            <a:pPr algn="just">
              <a:buFont typeface="Wingdings" panose="05000000000000000000" pitchFamily="2" charset="2"/>
              <a:buChar char="§"/>
            </a:pPr>
            <a:r>
              <a:rPr lang="en-US" sz="1800" dirty="0" smtClean="0">
                <a:latin typeface="Arial" panose="020B0604020202020204" pitchFamily="34" charset="0"/>
                <a:cs typeface="Arial" panose="020B0604020202020204" pitchFamily="34" charset="0"/>
              </a:rPr>
              <a:t>Electromyography technique can also be used for Gesture Recognition.[5]</a:t>
            </a:r>
          </a:p>
          <a:p>
            <a:pPr algn="just">
              <a:buFont typeface="Wingdings" panose="05000000000000000000" pitchFamily="2" charset="2"/>
              <a:buChar char="§"/>
            </a:pPr>
            <a:r>
              <a:rPr lang="en-US" sz="1800" dirty="0" err="1" smtClean="0">
                <a:latin typeface="Arial" panose="020B0604020202020204" pitchFamily="34" charset="0"/>
                <a:cs typeface="Arial" panose="020B0604020202020204" pitchFamily="34" charset="0"/>
              </a:rPr>
              <a:t>Daubechies</a:t>
            </a:r>
            <a:r>
              <a:rPr lang="en-US" sz="1800" dirty="0" smtClean="0">
                <a:latin typeface="Arial" panose="020B0604020202020204" pitchFamily="34" charset="0"/>
                <a:cs typeface="Arial" panose="020B0604020202020204" pitchFamily="34" charset="0"/>
              </a:rPr>
              <a:t> Wavelet Transform is used for Gesture recognition in [6].</a:t>
            </a:r>
          </a:p>
          <a:p>
            <a:pPr algn="just">
              <a:buFont typeface="Wingdings" panose="05000000000000000000" pitchFamily="2" charset="2"/>
              <a:buChar char="§"/>
            </a:pPr>
            <a:r>
              <a:rPr lang="en-US" sz="1800" dirty="0" smtClean="0">
                <a:latin typeface="Arial" panose="020B0604020202020204" pitchFamily="34" charset="0"/>
                <a:cs typeface="Arial" panose="020B0604020202020204" pitchFamily="34" charset="0"/>
              </a:rPr>
              <a:t>A </a:t>
            </a:r>
            <a:r>
              <a:rPr lang="en-US" sz="1800" dirty="0">
                <a:latin typeface="Arial" panose="020B0604020202020204" pitchFamily="34" charset="0"/>
                <a:cs typeface="Arial" panose="020B0604020202020204" pitchFamily="34" charset="0"/>
              </a:rPr>
              <a:t>method for counting open fingers and virtual drawing in real time using color detection and shape detection algorithms is designed in </a:t>
            </a:r>
            <a:r>
              <a:rPr lang="en-US" sz="1800" dirty="0" smtClean="0">
                <a:latin typeface="Arial" panose="020B0604020202020204" pitchFamily="34" charset="0"/>
                <a:cs typeface="Arial" panose="020B0604020202020204" pitchFamily="34" charset="0"/>
              </a:rPr>
              <a:t>[7].</a:t>
            </a:r>
            <a:endParaRPr lang="en-US" sz="1800" dirty="0">
              <a:latin typeface="Arial" panose="020B0604020202020204" pitchFamily="34" charset="0"/>
              <a:cs typeface="Arial" panose="020B0604020202020204" pitchFamily="34" charset="0"/>
            </a:endParaRPr>
          </a:p>
          <a:p>
            <a:pPr algn="just">
              <a:buFont typeface="Wingdings" panose="05000000000000000000" charset="0"/>
              <a:buChar char="§"/>
            </a:pPr>
            <a:endParaRPr lang="en-US" sz="120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 xmlns:a16="http://schemas.microsoft.com/office/drawing/2014/main" id="{B2380748-81F8-4A67-9541-EE8A86486BCB}"/>
              </a:ext>
            </a:extLst>
          </p:cNvPr>
          <p:cNvSpPr txBox="1"/>
          <p:nvPr/>
        </p:nvSpPr>
        <p:spPr>
          <a:xfrm>
            <a:off x="533400" y="285947"/>
            <a:ext cx="8229600" cy="584775"/>
          </a:xfrm>
          <a:prstGeom prst="rect">
            <a:avLst/>
          </a:prstGeom>
          <a:noFill/>
        </p:spPr>
        <p:txBody>
          <a:bodyPr wrap="square" rtlCol="0">
            <a:spAutoFit/>
          </a:bodyPr>
          <a:lstStyle/>
          <a:p>
            <a:pPr algn="ctr"/>
            <a:r>
              <a:rPr lang="en-IN" sz="3200" b="1" dirty="0">
                <a:latin typeface="Arial" panose="020B0604020202020204" pitchFamily="34" charset="0"/>
                <a:cs typeface="Arial" panose="020B0604020202020204" pitchFamily="34" charset="0"/>
              </a:rPr>
              <a:t>Literature </a:t>
            </a:r>
            <a:r>
              <a:rPr lang="en-IN" sz="3200" b="1" dirty="0" smtClean="0">
                <a:latin typeface="Arial" panose="020B0604020202020204" pitchFamily="34" charset="0"/>
                <a:cs typeface="Arial" panose="020B0604020202020204" pitchFamily="34" charset="0"/>
              </a:rPr>
              <a:t>Survey</a:t>
            </a:r>
            <a:endParaRPr lang="en-IN" sz="3200" b="1" dirty="0">
              <a:solidFill>
                <a:srgbClr val="FF0000"/>
              </a:solidFill>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6">
            <a:extLst>
              <a:ext uri="{FF2B5EF4-FFF2-40B4-BE49-F238E27FC236}">
                <a16:creationId xmlns="" xmlns:a16="http://schemas.microsoft.com/office/drawing/2014/main" id="{6A40566A-A539-40C7-8746-A9FDB6FFC143}"/>
              </a:ext>
            </a:extLst>
          </p:cNvPr>
          <p:cNvGraphicFramePr>
            <a:graphicFrameLocks noGrp="1"/>
          </p:cNvGraphicFramePr>
          <p:nvPr/>
        </p:nvGraphicFramePr>
        <p:xfrm>
          <a:off x="838200" y="1524000"/>
          <a:ext cx="7772400" cy="3840480"/>
        </p:xfrm>
        <a:graphic>
          <a:graphicData uri="http://schemas.openxmlformats.org/drawingml/2006/table">
            <a:tbl>
              <a:tblPr firstRow="1" bandRow="1">
                <a:tableStyleId>{5C22544A-7EE6-4342-B048-85BDC9FD1C3A}</a:tableStyleId>
              </a:tblPr>
              <a:tblGrid>
                <a:gridCol w="1333500">
                  <a:extLst>
                    <a:ext uri="{9D8B030D-6E8A-4147-A177-3AD203B41FA5}">
                      <a16:colId xmlns="" xmlns:a16="http://schemas.microsoft.com/office/drawing/2014/main" val="2388134404"/>
                    </a:ext>
                  </a:extLst>
                </a:gridCol>
                <a:gridCol w="1684020">
                  <a:extLst>
                    <a:ext uri="{9D8B030D-6E8A-4147-A177-3AD203B41FA5}">
                      <a16:colId xmlns="" xmlns:a16="http://schemas.microsoft.com/office/drawing/2014/main" val="2010139742"/>
                    </a:ext>
                  </a:extLst>
                </a:gridCol>
                <a:gridCol w="1554480">
                  <a:extLst>
                    <a:ext uri="{9D8B030D-6E8A-4147-A177-3AD203B41FA5}">
                      <a16:colId xmlns="" xmlns:a16="http://schemas.microsoft.com/office/drawing/2014/main" val="1801580436"/>
                    </a:ext>
                  </a:extLst>
                </a:gridCol>
                <a:gridCol w="1600200"/>
                <a:gridCol w="1600200">
                  <a:extLst>
                    <a:ext uri="{9D8B030D-6E8A-4147-A177-3AD203B41FA5}">
                      <a16:colId xmlns="" xmlns:a16="http://schemas.microsoft.com/office/drawing/2014/main" val="1551118050"/>
                    </a:ext>
                  </a:extLst>
                </a:gridCol>
              </a:tblGrid>
              <a:tr h="370840">
                <a:tc>
                  <a:txBody>
                    <a:bodyPr/>
                    <a:lstStyle/>
                    <a:p>
                      <a:endParaRPr lang="en-IN" dirty="0"/>
                    </a:p>
                  </a:txBody>
                  <a:tcPr/>
                </a:tc>
                <a:tc>
                  <a:txBody>
                    <a:bodyPr/>
                    <a:lstStyle/>
                    <a:p>
                      <a:r>
                        <a:rPr lang="en-IN" dirty="0"/>
                        <a:t>Gesture Recognition with </a:t>
                      </a:r>
                      <a:r>
                        <a:rPr lang="en-IN" dirty="0" smtClean="0"/>
                        <a:t>Electromyo-graphy </a:t>
                      </a:r>
                      <a:r>
                        <a:rPr lang="en-IN" dirty="0"/>
                        <a:t>(EMG</a:t>
                      </a:r>
                      <a:r>
                        <a:rPr lang="en-IN" dirty="0" smtClean="0"/>
                        <a:t>)</a:t>
                      </a:r>
                    </a:p>
                    <a:p>
                      <a:pPr algn="ctr"/>
                      <a:r>
                        <a:rPr lang="en-IN" dirty="0" smtClean="0"/>
                        <a:t>[5] </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Flex Sensor based Gesture Recognition</a:t>
                      </a:r>
                    </a:p>
                    <a:p>
                      <a:pPr algn="ctr"/>
                      <a:endParaRPr lang="en-IN" dirty="0" smtClean="0"/>
                    </a:p>
                    <a:p>
                      <a:pPr algn="ctr"/>
                      <a:r>
                        <a:rPr lang="en-IN" dirty="0" smtClean="0"/>
                        <a:t>[2]</a:t>
                      </a:r>
                      <a:endParaRPr lang="en-IN" dirty="0"/>
                    </a:p>
                  </a:txBody>
                  <a:tcPr/>
                </a:tc>
                <a:tc>
                  <a:txBody>
                    <a:bodyPr/>
                    <a:lstStyle/>
                    <a:p>
                      <a:r>
                        <a:rPr lang="en-IN" dirty="0" smtClean="0"/>
                        <a:t>DWT</a:t>
                      </a:r>
                    </a:p>
                    <a:p>
                      <a:r>
                        <a:rPr lang="en-IN" dirty="0" smtClean="0"/>
                        <a:t>(Daubechies</a:t>
                      </a:r>
                    </a:p>
                    <a:p>
                      <a:r>
                        <a:rPr lang="en-IN" dirty="0" smtClean="0"/>
                        <a:t>Wavelet</a:t>
                      </a:r>
                    </a:p>
                    <a:p>
                      <a:r>
                        <a:rPr lang="en-IN" dirty="0" smtClean="0"/>
                        <a:t>Transform</a:t>
                      </a:r>
                      <a:r>
                        <a:rPr lang="en-IN" dirty="0" smtClean="0"/>
                        <a:t>)</a:t>
                      </a:r>
                    </a:p>
                    <a:p>
                      <a:pPr algn="ctr"/>
                      <a:endParaRPr lang="en-IN" smtClean="0"/>
                    </a:p>
                    <a:p>
                      <a:pPr algn="ctr"/>
                      <a:r>
                        <a:rPr lang="en-IN" smtClean="0"/>
                        <a:t>[</a:t>
                      </a:r>
                      <a:r>
                        <a:rPr lang="en-IN" dirty="0" smtClean="0"/>
                        <a:t>6]</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Image Processing based Gesture Recognition</a:t>
                      </a:r>
                    </a:p>
                    <a:p>
                      <a:pPr algn="ctr"/>
                      <a:r>
                        <a:rPr lang="en-IN" dirty="0" smtClean="0"/>
                        <a:t>[2]</a:t>
                      </a:r>
                      <a:endParaRPr lang="en-IN" dirty="0"/>
                    </a:p>
                  </a:txBody>
                  <a:tcPr/>
                </a:tc>
                <a:extLst>
                  <a:ext uri="{0D108BD9-81ED-4DB2-BD59-A6C34878D82A}">
                    <a16:rowId xmlns="" xmlns:a16="http://schemas.microsoft.com/office/drawing/2014/main" val="2868040008"/>
                  </a:ext>
                </a:extLst>
              </a:tr>
              <a:tr h="370840">
                <a:tc>
                  <a:txBody>
                    <a:bodyPr/>
                    <a:lstStyle/>
                    <a:p>
                      <a:r>
                        <a:rPr lang="en-IN" dirty="0"/>
                        <a:t>Accuracy(%)</a:t>
                      </a:r>
                    </a:p>
                  </a:txBody>
                  <a:tcPr/>
                </a:tc>
                <a:tc>
                  <a:txBody>
                    <a:bodyPr/>
                    <a:lstStyle/>
                    <a:p>
                      <a:pPr algn="ctr"/>
                      <a:r>
                        <a:rPr lang="en-IN" dirty="0"/>
                        <a:t>86%</a:t>
                      </a:r>
                    </a:p>
                  </a:txBody>
                  <a:tcPr anchor="ctr"/>
                </a:tc>
                <a:tc>
                  <a:txBody>
                    <a:bodyPr/>
                    <a:lstStyle/>
                    <a:p>
                      <a:pPr algn="ctr"/>
                      <a:r>
                        <a:rPr lang="en-IN" dirty="0"/>
                        <a:t>84%</a:t>
                      </a:r>
                    </a:p>
                  </a:txBody>
                  <a:tcPr anchor="ctr"/>
                </a:tc>
                <a:tc>
                  <a:txBody>
                    <a:bodyPr/>
                    <a:lstStyle/>
                    <a:p>
                      <a:pPr algn="ctr"/>
                      <a:r>
                        <a:rPr lang="en-IN" dirty="0" smtClean="0"/>
                        <a:t>100%</a:t>
                      </a:r>
                      <a:endParaRPr lang="en-IN" dirty="0"/>
                    </a:p>
                  </a:txBody>
                  <a:tcPr anchor="ctr"/>
                </a:tc>
                <a:tc>
                  <a:txBody>
                    <a:bodyPr/>
                    <a:lstStyle/>
                    <a:p>
                      <a:pPr algn="ctr"/>
                      <a:r>
                        <a:rPr lang="en-IN" dirty="0" smtClean="0"/>
                        <a:t>100%</a:t>
                      </a:r>
                      <a:endParaRPr lang="en-IN" dirty="0"/>
                    </a:p>
                  </a:txBody>
                  <a:tcPr anchor="ctr"/>
                </a:tc>
                <a:extLst>
                  <a:ext uri="{0D108BD9-81ED-4DB2-BD59-A6C34878D82A}">
                    <a16:rowId xmlns="" xmlns:a16="http://schemas.microsoft.com/office/drawing/2014/main" val="1903725106"/>
                  </a:ext>
                </a:extLst>
              </a:tr>
              <a:tr h="370840">
                <a:tc>
                  <a:txBody>
                    <a:bodyPr/>
                    <a:lstStyle/>
                    <a:p>
                      <a:pPr algn="ctr"/>
                      <a:r>
                        <a:rPr lang="en-IN" dirty="0" smtClean="0"/>
                        <a:t>Time required to recognize a gesture.</a:t>
                      </a:r>
                      <a:endParaRPr lang="en-IN" dirty="0"/>
                    </a:p>
                  </a:txBody>
                  <a:tcPr/>
                </a:tc>
                <a:tc>
                  <a:txBody>
                    <a:bodyPr/>
                    <a:lstStyle/>
                    <a:p>
                      <a:pPr algn="ctr"/>
                      <a:r>
                        <a:rPr lang="en-IN" dirty="0" smtClean="0"/>
                        <a:t>Less</a:t>
                      </a:r>
                      <a:endParaRPr lang="en-IN" dirty="0"/>
                    </a:p>
                  </a:txBody>
                  <a:tcPr anchor="ctr"/>
                </a:tc>
                <a:tc>
                  <a:txBody>
                    <a:bodyPr/>
                    <a:lstStyle/>
                    <a:p>
                      <a:pPr algn="ctr"/>
                      <a:r>
                        <a:rPr lang="en-IN" dirty="0" smtClean="0"/>
                        <a:t>Moderate</a:t>
                      </a:r>
                      <a:endParaRPr lang="en-IN" dirty="0"/>
                    </a:p>
                  </a:txBody>
                  <a:tcPr anchor="ctr"/>
                </a:tc>
                <a:tc>
                  <a:txBody>
                    <a:bodyPr/>
                    <a:lstStyle/>
                    <a:p>
                      <a:pPr algn="ctr"/>
                      <a:r>
                        <a:rPr lang="en-IN" dirty="0" smtClean="0"/>
                        <a:t>More</a:t>
                      </a:r>
                      <a:endParaRPr lang="en-IN" dirty="0"/>
                    </a:p>
                  </a:txBody>
                  <a:tcPr anchor="ctr"/>
                </a:tc>
                <a:tc>
                  <a:txBody>
                    <a:bodyPr/>
                    <a:lstStyle/>
                    <a:p>
                      <a:pPr algn="ctr"/>
                      <a:r>
                        <a:rPr lang="en-IN" dirty="0" smtClean="0"/>
                        <a:t>Less</a:t>
                      </a:r>
                      <a:endParaRPr lang="en-IN" dirty="0"/>
                    </a:p>
                  </a:txBody>
                  <a:tcPr anchor="ctr"/>
                </a:tc>
              </a:tr>
            </a:tbl>
          </a:graphicData>
        </a:graphic>
      </p:graphicFrame>
      <p:sp>
        <p:nvSpPr>
          <p:cNvPr id="9" name="TextBox 8">
            <a:extLst>
              <a:ext uri="{FF2B5EF4-FFF2-40B4-BE49-F238E27FC236}">
                <a16:creationId xmlns="" xmlns:a16="http://schemas.microsoft.com/office/drawing/2014/main" id="{8F0D06C9-C050-4462-A4FA-BBEBDF1E4CC7}"/>
              </a:ext>
            </a:extLst>
          </p:cNvPr>
          <p:cNvSpPr txBox="1"/>
          <p:nvPr/>
        </p:nvSpPr>
        <p:spPr>
          <a:xfrm>
            <a:off x="800100" y="228600"/>
            <a:ext cx="7543800" cy="1077218"/>
          </a:xfrm>
          <a:prstGeom prst="rect">
            <a:avLst/>
          </a:prstGeom>
          <a:noFill/>
        </p:spPr>
        <p:txBody>
          <a:bodyPr wrap="square" rtlCol="0">
            <a:spAutoFit/>
          </a:bodyPr>
          <a:lstStyle/>
          <a:p>
            <a:pPr algn="ctr"/>
            <a:r>
              <a:rPr lang="en-IN" sz="3200" b="1" dirty="0">
                <a:latin typeface="Arial" panose="020B0604020202020204" pitchFamily="34" charset="0"/>
                <a:cs typeface="Arial" panose="020B0604020202020204" pitchFamily="34" charset="0"/>
              </a:rPr>
              <a:t>Comparative Study of Hand Gesture Recognition using various methods:</a:t>
            </a:r>
          </a:p>
        </p:txBody>
      </p:sp>
    </p:spTree>
    <p:extLst>
      <p:ext uri="{BB962C8B-B14F-4D97-AF65-F5344CB8AC3E}">
        <p14:creationId xmlns="" xmlns:p14="http://schemas.microsoft.com/office/powerpoint/2010/main" val="1991720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4B3F35B8-56E0-4B6C-864A-E5985E787A76}"/>
              </a:ext>
            </a:extLst>
          </p:cNvPr>
          <p:cNvSpPr/>
          <p:nvPr/>
        </p:nvSpPr>
        <p:spPr>
          <a:xfrm>
            <a:off x="419100" y="838200"/>
            <a:ext cx="8305800" cy="4728923"/>
          </a:xfrm>
          <a:prstGeom prst="rect">
            <a:avLst/>
          </a:prstGeom>
        </p:spPr>
        <p:txBody>
          <a:bodyPr wrap="square">
            <a:spAutoFit/>
          </a:bodyPr>
          <a:lstStyle/>
          <a:p>
            <a:pPr algn="just">
              <a:lnSpc>
                <a:spcPct val="150000"/>
              </a:lnSpc>
              <a:spcBef>
                <a:spcPts val="150"/>
              </a:spcBef>
              <a:spcAft>
                <a:spcPts val="150"/>
              </a:spcAft>
            </a:pPr>
            <a:endParaRPr lang="en-US" sz="2000"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marL="285750" indent="-285750" algn="just">
              <a:lnSpc>
                <a:spcPct val="150000"/>
              </a:lnSpc>
              <a:spcBef>
                <a:spcPts val="150"/>
              </a:spcBef>
              <a:spcAft>
                <a:spcPts val="150"/>
              </a:spcAft>
              <a:buFont typeface="Wingdings" panose="05000000000000000000" pitchFamily="2" charset="2"/>
              <a:buChar char="§"/>
            </a:pPr>
            <a:r>
              <a:rPr lang="en-US" sz="2000" dirty="0">
                <a:solidFill>
                  <a:srgbClr val="000000"/>
                </a:solidFill>
                <a:latin typeface="Arial" panose="020B0604020202020204" pitchFamily="34" charset="0"/>
                <a:ea typeface="Times New Roman" panose="02020603050405020304" pitchFamily="18" charset="0"/>
                <a:cs typeface="Arial" panose="020B0604020202020204" pitchFamily="34" charset="0"/>
              </a:rPr>
              <a:t>Some of the traditional systems of gesture recognition use flex sensors that measure the amount of deflection or bending. The system which we propose uses image processing techniques to detect gestures. The flex sensors technique is costly and is more susceptible to errors. So image processing technique is more advantageous.</a:t>
            </a:r>
            <a:endParaRPr lang="en-IN" sz="2000" dirty="0">
              <a:latin typeface="Arial" panose="020B0604020202020204" pitchFamily="34" charset="0"/>
              <a:ea typeface="Times New Roman" panose="02020603050405020304" pitchFamily="18" charset="0"/>
              <a:cs typeface="Arial" panose="020B0604020202020204" pitchFamily="34" charset="0"/>
            </a:endParaRPr>
          </a:p>
          <a:p>
            <a:pPr marL="285750" indent="-285750" algn="just">
              <a:lnSpc>
                <a:spcPct val="150000"/>
              </a:lnSpc>
              <a:buFont typeface="Wingdings" panose="05000000000000000000" pitchFamily="2" charset="2"/>
              <a:buChar char="§"/>
            </a:pPr>
            <a:r>
              <a:rPr lang="en-IN" sz="2000" dirty="0">
                <a:solidFill>
                  <a:srgbClr val="000000"/>
                </a:solidFill>
                <a:latin typeface="Arial" panose="020B0604020202020204" pitchFamily="34" charset="0"/>
                <a:ea typeface="Times New Roman" panose="02020603050405020304" pitchFamily="18" charset="0"/>
                <a:cs typeface="Arial" panose="020B0604020202020204" pitchFamily="34" charset="0"/>
              </a:rPr>
              <a:t>For Drawing Application Blue Coloured cap is used to draw virtually on the screen and drawn diagram is visible to user in Paint Window. Hence, this system is easy to interact and use by any new user.</a:t>
            </a:r>
            <a:endParaRPr lang="en-IN" sz="20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 xmlns:a16="http://schemas.microsoft.com/office/drawing/2014/main" id="{40F3D301-90D4-4B0A-AECB-4CF381AFD6AD}"/>
              </a:ext>
            </a:extLst>
          </p:cNvPr>
          <p:cNvSpPr txBox="1"/>
          <p:nvPr/>
        </p:nvSpPr>
        <p:spPr>
          <a:xfrm>
            <a:off x="1676400" y="304801"/>
            <a:ext cx="5943600" cy="1200329"/>
          </a:xfrm>
          <a:prstGeom prst="rect">
            <a:avLst/>
          </a:prstGeom>
          <a:noFill/>
        </p:spPr>
        <p:txBody>
          <a:bodyPr wrap="square" rtlCol="0">
            <a:spAutoFit/>
          </a:bodyPr>
          <a:lstStyle/>
          <a:p>
            <a:pPr algn="ctr"/>
            <a:r>
              <a:rPr lang="en-US" sz="3600" b="1" dirty="0">
                <a:solidFill>
                  <a:srgbClr val="000000"/>
                </a:solidFill>
                <a:latin typeface="Arial" panose="020B0604020202020204" pitchFamily="34" charset="0"/>
                <a:ea typeface="Times New Roman" panose="02020603050405020304" pitchFamily="18" charset="0"/>
                <a:cs typeface="Arial" panose="020B0604020202020204" pitchFamily="34" charset="0"/>
              </a:rPr>
              <a:t>Proposed System</a:t>
            </a:r>
            <a:endParaRPr lang="en-IN" sz="3600" b="1" dirty="0">
              <a:solidFill>
                <a:srgbClr val="4F81BD"/>
              </a:solidFill>
              <a:latin typeface="Arial" panose="020B0604020202020204" pitchFamily="34" charset="0"/>
              <a:ea typeface="Times New Roman" panose="02020603050405020304" pitchFamily="18" charset="0"/>
              <a:cs typeface="Arial" panose="020B0604020202020204" pitchFamily="34" charset="0"/>
            </a:endParaRPr>
          </a:p>
          <a:p>
            <a:pPr algn="ctr"/>
            <a:endParaRPr lang="en-IN" sz="3600" dirty="0">
              <a:latin typeface="Arial" panose="020B0604020202020204" pitchFamily="34" charset="0"/>
              <a:cs typeface="Arial" panose="020B0604020202020204" pitchFamily="34" charset="0"/>
            </a:endParaRPr>
          </a:p>
        </p:txBody>
      </p:sp>
    </p:spTree>
    <p:extLst>
      <p:ext uri="{BB962C8B-B14F-4D97-AF65-F5344CB8AC3E}">
        <p14:creationId xmlns="" xmlns:p14="http://schemas.microsoft.com/office/powerpoint/2010/main" val="285131444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1049655" y="1506024"/>
            <a:ext cx="7160895" cy="4521835"/>
          </a:xfrm>
          <a:prstGeom prst="rect">
            <a:avLst/>
          </a:prstGeom>
          <a:noFill/>
          <a:ln w="9525">
            <a:noFill/>
            <a:miter lim="800000"/>
            <a:headEnd/>
            <a:tailEnd/>
          </a:ln>
          <a:effectLst/>
        </p:spPr>
      </p:pic>
      <p:sp>
        <p:nvSpPr>
          <p:cNvPr id="3" name="Title 2"/>
          <p:cNvSpPr>
            <a:spLocks noGrp="1"/>
          </p:cNvSpPr>
          <p:nvPr>
            <p:ph type="title"/>
          </p:nvPr>
        </p:nvSpPr>
        <p:spPr>
          <a:xfrm>
            <a:off x="381000" y="277495"/>
            <a:ext cx="8382000" cy="1143000"/>
          </a:xfrm>
        </p:spPr>
        <p:txBody>
          <a:bodyPr>
            <a:normAutofit fontScale="90000"/>
          </a:bodyPr>
          <a:lstStyle/>
          <a:p>
            <a:pPr algn="ctr"/>
            <a:r>
              <a:rPr lang="en-US" sz="3700" dirty="0">
                <a:effectLst/>
                <a:latin typeface="Arial" panose="020B0604020202020204" pitchFamily="34" charset="0"/>
                <a:cs typeface="Arial" panose="020B0604020202020204" pitchFamily="34" charset="0"/>
              </a:rPr>
              <a:t>SIXTH</a:t>
            </a:r>
            <a:r>
              <a:rPr lang="en-US" sz="3700" dirty="0">
                <a:latin typeface="Arial" panose="020B0604020202020204" pitchFamily="34" charset="0"/>
                <a:cs typeface="Arial" panose="020B0604020202020204" pitchFamily="34" charset="0"/>
              </a:rPr>
              <a:t> </a:t>
            </a:r>
            <a:r>
              <a:rPr lang="en-US" sz="3700" dirty="0">
                <a:effectLst/>
                <a:latin typeface="Arial" panose="020B0604020202020204" pitchFamily="34" charset="0"/>
                <a:cs typeface="Arial" panose="020B0604020202020204" pitchFamily="34" charset="0"/>
              </a:rPr>
              <a:t>SENSE</a:t>
            </a:r>
            <a:r>
              <a:rPr lang="en-US" sz="3700" dirty="0">
                <a:latin typeface="Arial" panose="020B0604020202020204" pitchFamily="34" charset="0"/>
                <a:cs typeface="Arial" panose="020B0604020202020204" pitchFamily="34" charset="0"/>
              </a:rPr>
              <a:t> </a:t>
            </a:r>
            <a:r>
              <a:rPr lang="en-IN" altLang="en-US" sz="3700" dirty="0">
                <a:effectLst/>
                <a:latin typeface="Arial" panose="020B0604020202020204" pitchFamily="34" charset="0"/>
                <a:cs typeface="Arial" panose="020B0604020202020204" pitchFamily="34" charset="0"/>
              </a:rPr>
              <a:t>DEVICE</a:t>
            </a:r>
            <a:r>
              <a:rPr lang="en-IN" altLang="en-US" sz="3700" dirty="0">
                <a:latin typeface="Arial" panose="020B0604020202020204" pitchFamily="34" charset="0"/>
                <a:cs typeface="Arial" panose="020B0604020202020204" pitchFamily="34" charset="0"/>
              </a:rPr>
              <a:t> </a:t>
            </a:r>
            <a:r>
              <a:rPr lang="en-US" sz="3700" dirty="0">
                <a:effectLst/>
                <a:latin typeface="Arial" panose="020B0604020202020204" pitchFamily="34" charset="0"/>
                <a:cs typeface="Arial" panose="020B0604020202020204" pitchFamily="34" charset="0"/>
              </a:rPr>
              <a:t>BLOCK</a:t>
            </a:r>
            <a:r>
              <a:rPr lang="en-US" sz="3700" dirty="0">
                <a:latin typeface="Arial" panose="020B0604020202020204" pitchFamily="34" charset="0"/>
                <a:cs typeface="Arial" panose="020B0604020202020204" pitchFamily="34" charset="0"/>
              </a:rPr>
              <a:t> </a:t>
            </a:r>
            <a:r>
              <a:rPr lang="en-US" sz="3700" dirty="0">
                <a:effectLst/>
                <a:latin typeface="Arial" panose="020B0604020202020204" pitchFamily="34" charset="0"/>
                <a:cs typeface="Arial" panose="020B0604020202020204" pitchFamily="34" charset="0"/>
              </a:rPr>
              <a:t>DIAGRAM</a:t>
            </a:r>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143000"/>
            <a:ext cx="8229600" cy="4525963"/>
          </a:xfrm>
        </p:spPr>
        <p:txBody>
          <a:bodyPr>
            <a:normAutofit lnSpcReduction="10000"/>
          </a:bodyPr>
          <a:lstStyle/>
          <a:p>
            <a:pPr algn="just">
              <a:buFont typeface="Wingdings" panose="05000000000000000000" pitchFamily="2" charset="2"/>
              <a:buChar char="§"/>
            </a:pPr>
            <a:r>
              <a:rPr lang="en-US" sz="2400" b="1" dirty="0">
                <a:latin typeface="Arial" pitchFamily="34" charset="0"/>
                <a:cs typeface="Arial" pitchFamily="34" charset="0"/>
              </a:rPr>
              <a:t>Segmentation</a:t>
            </a:r>
            <a:r>
              <a:rPr lang="en-US" sz="2400" dirty="0">
                <a:latin typeface="Arial" pitchFamily="34" charset="0"/>
                <a:cs typeface="Arial" pitchFamily="34" charset="0"/>
              </a:rPr>
              <a:t>: Image segmentation is the process of partitioning a digital image into multiple segments (sets of pixels, also known as image objects).</a:t>
            </a:r>
          </a:p>
          <a:p>
            <a:pPr algn="just">
              <a:buFont typeface="Wingdings" panose="05000000000000000000" pitchFamily="2" charset="2"/>
              <a:buChar char="§"/>
            </a:pPr>
            <a:r>
              <a:rPr lang="en-US" sz="2400" b="1" dirty="0">
                <a:latin typeface="Arial" pitchFamily="34" charset="0"/>
                <a:cs typeface="Arial" pitchFamily="34" charset="0"/>
              </a:rPr>
              <a:t>Thresholding</a:t>
            </a:r>
            <a:r>
              <a:rPr lang="en-US" sz="2400" dirty="0">
                <a:latin typeface="Arial" pitchFamily="34" charset="0"/>
                <a:cs typeface="Arial" pitchFamily="34" charset="0"/>
              </a:rPr>
              <a:t>: Image thresholding is a simple, yet effective, way of partitioning an image into a foreground and background.</a:t>
            </a:r>
          </a:p>
          <a:p>
            <a:pPr algn="just">
              <a:buFont typeface="Wingdings" panose="05000000000000000000" pitchFamily="2" charset="2"/>
              <a:buChar char="§"/>
            </a:pPr>
            <a:r>
              <a:rPr lang="en-US" sz="2400" b="1" dirty="0">
                <a:latin typeface="Arial" pitchFamily="34" charset="0"/>
                <a:cs typeface="Arial" pitchFamily="34" charset="0"/>
              </a:rPr>
              <a:t>Contours</a:t>
            </a:r>
            <a:r>
              <a:rPr lang="en-US" sz="2400" dirty="0">
                <a:latin typeface="Arial" pitchFamily="34" charset="0"/>
                <a:cs typeface="Arial" pitchFamily="34" charset="0"/>
              </a:rPr>
              <a:t>:</a:t>
            </a:r>
            <a:r>
              <a:rPr lang="en-US" sz="2400" b="1" dirty="0"/>
              <a:t> </a:t>
            </a:r>
            <a:r>
              <a:rPr lang="en-US" sz="2400" dirty="0">
                <a:latin typeface="Arial" pitchFamily="34" charset="0"/>
                <a:cs typeface="Arial" pitchFamily="34" charset="0"/>
              </a:rPr>
              <a:t>Contours can be explained simply as a curve joining all the continuous points (along the boundary), having same color or intensity. </a:t>
            </a:r>
          </a:p>
          <a:p>
            <a:pPr algn="just">
              <a:buFont typeface="Wingdings" panose="05000000000000000000" pitchFamily="2" charset="2"/>
              <a:buChar char="§"/>
            </a:pPr>
            <a:r>
              <a:rPr lang="en-US" sz="2400" b="1" dirty="0">
                <a:latin typeface="Arial" pitchFamily="34" charset="0"/>
                <a:cs typeface="Arial" pitchFamily="34" charset="0"/>
              </a:rPr>
              <a:t>Convex Hull</a:t>
            </a:r>
            <a:r>
              <a:rPr lang="en-US" sz="2400" dirty="0">
                <a:latin typeface="Arial" pitchFamily="34" charset="0"/>
                <a:cs typeface="Arial" pitchFamily="34" charset="0"/>
              </a:rPr>
              <a:t>:</a:t>
            </a:r>
            <a:r>
              <a:rPr lang="en-US" sz="2400" dirty="0"/>
              <a:t> </a:t>
            </a:r>
            <a:r>
              <a:rPr lang="en-US" sz="2400" dirty="0">
                <a:latin typeface="Arial" pitchFamily="34" charset="0"/>
                <a:cs typeface="Arial" pitchFamily="34" charset="0"/>
              </a:rPr>
              <a:t>Given a set of points in the plane. the convex hull of the set is the smallest convex polygon that contains all the points of it.</a:t>
            </a:r>
          </a:p>
        </p:txBody>
      </p:sp>
      <p:sp>
        <p:nvSpPr>
          <p:cNvPr id="4" name="TextBox 3">
            <a:extLst>
              <a:ext uri="{FF2B5EF4-FFF2-40B4-BE49-F238E27FC236}">
                <a16:creationId xmlns="" xmlns:a16="http://schemas.microsoft.com/office/drawing/2014/main" id="{76EC75D6-3D0D-464D-B012-CC3FC18CDB51}"/>
              </a:ext>
            </a:extLst>
          </p:cNvPr>
          <p:cNvSpPr txBox="1"/>
          <p:nvPr/>
        </p:nvSpPr>
        <p:spPr>
          <a:xfrm>
            <a:off x="1219200" y="231586"/>
            <a:ext cx="7086600" cy="646331"/>
          </a:xfrm>
          <a:prstGeom prst="rect">
            <a:avLst/>
          </a:prstGeom>
          <a:noFill/>
        </p:spPr>
        <p:txBody>
          <a:bodyPr wrap="square" rtlCol="0">
            <a:spAutoFit/>
          </a:bodyPr>
          <a:lstStyle/>
          <a:p>
            <a:pPr algn="ctr"/>
            <a:r>
              <a:rPr lang="en-IN" sz="3600" b="1" dirty="0">
                <a:latin typeface="Arial" panose="020B0604020202020204" pitchFamily="34" charset="0"/>
                <a:cs typeface="Arial" panose="020B0604020202020204" pitchFamily="34" charset="0"/>
              </a:rPr>
              <a:t>Steps for Gesture Recognition</a:t>
            </a:r>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C:\Users\Huddar\Desktop\s6.png"/>
          <p:cNvPicPr>
            <a:picLocks noGrp="1" noChangeAspect="1" noChangeArrowheads="1"/>
          </p:cNvPicPr>
          <p:nvPr>
            <p:ph idx="1"/>
          </p:nvPr>
        </p:nvPicPr>
        <p:blipFill>
          <a:blip r:embed="rId2"/>
          <a:stretch>
            <a:fillRect/>
          </a:stretch>
        </p:blipFill>
        <p:spPr bwMode="auto">
          <a:xfrm>
            <a:off x="6291261" y="3999131"/>
            <a:ext cx="2305025" cy="1533343"/>
          </a:xfrm>
          <a:prstGeom prst="rect">
            <a:avLst/>
          </a:prstGeom>
          <a:noFill/>
        </p:spPr>
      </p:pic>
      <p:sp>
        <p:nvSpPr>
          <p:cNvPr id="5" name="TextBox 4"/>
          <p:cNvSpPr txBox="1"/>
          <p:nvPr/>
        </p:nvSpPr>
        <p:spPr>
          <a:xfrm>
            <a:off x="6291262" y="5751731"/>
            <a:ext cx="2209800" cy="646331"/>
          </a:xfrm>
          <a:prstGeom prst="rect">
            <a:avLst/>
          </a:prstGeom>
          <a:noFill/>
        </p:spPr>
        <p:txBody>
          <a:bodyPr wrap="square" rtlCol="0">
            <a:spAutoFit/>
          </a:bodyPr>
          <a:lstStyle/>
          <a:p>
            <a:pPr algn="ctr"/>
            <a:r>
              <a:rPr lang="en-US" dirty="0"/>
              <a:t>Segmentation and Thresholding</a:t>
            </a:r>
          </a:p>
        </p:txBody>
      </p:sp>
      <p:pic>
        <p:nvPicPr>
          <p:cNvPr id="5123" name="Picture 3" descr="C:\Users\Huddar\Desktop\download.png"/>
          <p:cNvPicPr>
            <a:picLocks noChangeAspect="1" noChangeArrowheads="1"/>
          </p:cNvPicPr>
          <p:nvPr/>
        </p:nvPicPr>
        <p:blipFill>
          <a:blip r:embed="rId3"/>
          <a:srcRect/>
          <a:stretch>
            <a:fillRect/>
          </a:stretch>
        </p:blipFill>
        <p:spPr bwMode="auto">
          <a:xfrm>
            <a:off x="1219200" y="461109"/>
            <a:ext cx="1900238" cy="1982857"/>
          </a:xfrm>
          <a:prstGeom prst="rect">
            <a:avLst/>
          </a:prstGeom>
          <a:noFill/>
        </p:spPr>
      </p:pic>
      <p:sp>
        <p:nvSpPr>
          <p:cNvPr id="7" name="TextBox 6"/>
          <p:cNvSpPr txBox="1"/>
          <p:nvPr/>
        </p:nvSpPr>
        <p:spPr>
          <a:xfrm>
            <a:off x="728662" y="2396193"/>
            <a:ext cx="2895600" cy="369332"/>
          </a:xfrm>
          <a:prstGeom prst="rect">
            <a:avLst/>
          </a:prstGeom>
          <a:noFill/>
        </p:spPr>
        <p:txBody>
          <a:bodyPr wrap="square" rtlCol="0">
            <a:spAutoFit/>
          </a:bodyPr>
          <a:lstStyle/>
          <a:p>
            <a:pPr algn="ctr"/>
            <a:r>
              <a:rPr lang="en-US" dirty="0"/>
              <a:t>Region of Interest</a:t>
            </a:r>
          </a:p>
        </p:txBody>
      </p:sp>
      <p:pic>
        <p:nvPicPr>
          <p:cNvPr id="5124" name="Picture 4" descr="C:\Users\Huddar\Desktop\scipy-ndimage-gaussian_filter-1.png"/>
          <p:cNvPicPr>
            <a:picLocks noChangeAspect="1" noChangeArrowheads="1"/>
          </p:cNvPicPr>
          <p:nvPr/>
        </p:nvPicPr>
        <p:blipFill>
          <a:blip r:embed="rId4"/>
          <a:srcRect/>
          <a:stretch>
            <a:fillRect/>
          </a:stretch>
        </p:blipFill>
        <p:spPr bwMode="auto">
          <a:xfrm>
            <a:off x="5300662" y="457200"/>
            <a:ext cx="3690938" cy="2209800"/>
          </a:xfrm>
          <a:prstGeom prst="rect">
            <a:avLst/>
          </a:prstGeom>
          <a:noFill/>
        </p:spPr>
      </p:pic>
      <p:sp>
        <p:nvSpPr>
          <p:cNvPr id="9" name="TextBox 8"/>
          <p:cNvSpPr txBox="1"/>
          <p:nvPr/>
        </p:nvSpPr>
        <p:spPr>
          <a:xfrm>
            <a:off x="5910262" y="2286000"/>
            <a:ext cx="2971800" cy="369332"/>
          </a:xfrm>
          <a:prstGeom prst="rect">
            <a:avLst/>
          </a:prstGeom>
          <a:noFill/>
        </p:spPr>
        <p:txBody>
          <a:bodyPr wrap="square" rtlCol="0">
            <a:spAutoFit/>
          </a:bodyPr>
          <a:lstStyle/>
          <a:p>
            <a:pPr algn="ctr"/>
            <a:r>
              <a:rPr lang="en-US" dirty="0">
                <a:latin typeface="Arial" pitchFamily="34" charset="0"/>
                <a:cs typeface="Arial" pitchFamily="34" charset="0"/>
              </a:rPr>
              <a:t>Gaussian Filtering</a:t>
            </a:r>
          </a:p>
        </p:txBody>
      </p:sp>
      <p:sp>
        <p:nvSpPr>
          <p:cNvPr id="11" name="TextBox 10"/>
          <p:cNvSpPr txBox="1"/>
          <p:nvPr/>
        </p:nvSpPr>
        <p:spPr>
          <a:xfrm>
            <a:off x="1033462" y="5827931"/>
            <a:ext cx="2667000" cy="646331"/>
          </a:xfrm>
          <a:prstGeom prst="rect">
            <a:avLst/>
          </a:prstGeom>
          <a:noFill/>
        </p:spPr>
        <p:txBody>
          <a:bodyPr wrap="square" rtlCol="0">
            <a:spAutoFit/>
          </a:bodyPr>
          <a:lstStyle/>
          <a:p>
            <a:pPr algn="ctr"/>
            <a:r>
              <a:rPr lang="en-US" dirty="0"/>
              <a:t>Contours and Convex Hull </a:t>
            </a:r>
          </a:p>
        </p:txBody>
      </p:sp>
      <p:sp>
        <p:nvSpPr>
          <p:cNvPr id="12" name="Right Arrow 11"/>
          <p:cNvSpPr/>
          <p:nvPr/>
        </p:nvSpPr>
        <p:spPr>
          <a:xfrm>
            <a:off x="4005262" y="1255931"/>
            <a:ext cx="1143000" cy="533400"/>
          </a:xfrm>
          <a:prstGeom prst="rightArrow">
            <a:avLst/>
          </a:prstGeom>
          <a:gradFill flip="none" rotWithShape="1">
            <a:gsLst>
              <a:gs pos="0">
                <a:schemeClr val="bg1">
                  <a:lumMod val="50000"/>
                  <a:tint val="66000"/>
                  <a:satMod val="160000"/>
                </a:schemeClr>
              </a:gs>
              <a:gs pos="50000">
                <a:schemeClr val="bg1">
                  <a:lumMod val="50000"/>
                  <a:tint val="44500"/>
                  <a:satMod val="160000"/>
                </a:schemeClr>
              </a:gs>
              <a:gs pos="100000">
                <a:schemeClr val="bg1">
                  <a:lumMod val="50000"/>
                  <a:tint val="23500"/>
                  <a:satMod val="160000"/>
                </a:schemeClr>
              </a:gs>
            </a:gsLst>
            <a:lin ang="162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ight Arrow 12"/>
          <p:cNvSpPr/>
          <p:nvPr/>
        </p:nvSpPr>
        <p:spPr>
          <a:xfrm rot="5400000">
            <a:off x="6938962" y="3086100"/>
            <a:ext cx="1066800" cy="533400"/>
          </a:xfrm>
          <a:prstGeom prst="rightArrow">
            <a:avLst/>
          </a:prstGeom>
          <a:gradFill flip="none" rotWithShape="1">
            <a:gsLst>
              <a:gs pos="0">
                <a:schemeClr val="bg1">
                  <a:lumMod val="50000"/>
                  <a:tint val="66000"/>
                  <a:satMod val="160000"/>
                </a:schemeClr>
              </a:gs>
              <a:gs pos="50000">
                <a:schemeClr val="bg1">
                  <a:lumMod val="50000"/>
                  <a:tint val="44500"/>
                  <a:satMod val="160000"/>
                </a:schemeClr>
              </a:gs>
              <a:gs pos="100000">
                <a:schemeClr val="bg1">
                  <a:lumMod val="50000"/>
                  <a:tint val="23500"/>
                  <a:satMod val="160000"/>
                </a:schemeClr>
              </a:gs>
            </a:gsLst>
            <a:lin ang="162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ight Arrow 14"/>
          <p:cNvSpPr/>
          <p:nvPr/>
        </p:nvSpPr>
        <p:spPr>
          <a:xfrm rot="10800000">
            <a:off x="4005262" y="4532531"/>
            <a:ext cx="1143000" cy="533400"/>
          </a:xfrm>
          <a:prstGeom prst="rightArrow">
            <a:avLst/>
          </a:prstGeom>
          <a:gradFill flip="none" rotWithShape="1">
            <a:gsLst>
              <a:gs pos="0">
                <a:schemeClr val="bg1">
                  <a:lumMod val="50000"/>
                  <a:tint val="66000"/>
                  <a:satMod val="160000"/>
                </a:schemeClr>
              </a:gs>
              <a:gs pos="50000">
                <a:schemeClr val="bg1">
                  <a:lumMod val="50000"/>
                  <a:tint val="44500"/>
                  <a:satMod val="160000"/>
                </a:schemeClr>
              </a:gs>
              <a:gs pos="100000">
                <a:schemeClr val="bg1">
                  <a:lumMod val="50000"/>
                  <a:tint val="23500"/>
                  <a:satMod val="160000"/>
                </a:schemeClr>
              </a:gs>
            </a:gsLst>
            <a:lin ang="162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5" descr="C:\Users\Huddar\Desktop\s7.png">
            <a:extLst>
              <a:ext uri="{FF2B5EF4-FFF2-40B4-BE49-F238E27FC236}">
                <a16:creationId xmlns="" xmlns:a16="http://schemas.microsoft.com/office/drawing/2014/main" id="{77D22AD7-82C1-4E4D-8311-8C1C89CF50F5}"/>
              </a:ext>
            </a:extLst>
          </p:cNvPr>
          <p:cNvPicPr>
            <a:picLocks noChangeAspect="1" noChangeArrowheads="1"/>
          </p:cNvPicPr>
          <p:nvPr/>
        </p:nvPicPr>
        <p:blipFill>
          <a:blip r:embed="rId5"/>
          <a:srcRect/>
          <a:stretch>
            <a:fillRect/>
          </a:stretch>
        </p:blipFill>
        <p:spPr bwMode="auto">
          <a:xfrm>
            <a:off x="1033462" y="3999131"/>
            <a:ext cx="2628900" cy="1733550"/>
          </a:xfrm>
          <a:prstGeom prst="rect">
            <a:avLst/>
          </a:prstGeom>
          <a:noFill/>
        </p:spPr>
      </p:pic>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nodeType="clickEffect">
                                  <p:stCondLst>
                                    <p:cond delay="0"/>
                                  </p:stCondLst>
                                  <p:childTnLst>
                                    <p:set>
                                      <p:cBhvr>
                                        <p:cTn id="6" dur="1" fill="hold">
                                          <p:stCondLst>
                                            <p:cond delay="0"/>
                                          </p:stCondLst>
                                        </p:cTn>
                                        <p:tgtEl>
                                          <p:spTgt spid="5123"/>
                                        </p:tgtEl>
                                        <p:attrNameLst>
                                          <p:attrName>style.visibility</p:attrName>
                                        </p:attrNameLst>
                                      </p:cBhvr>
                                      <p:to>
                                        <p:strVal val="visible"/>
                                      </p:to>
                                    </p:set>
                                    <p:anim calcmode="lin" valueType="num">
                                      <p:cBhvr>
                                        <p:cTn id="7" dur="1000" fill="hold"/>
                                        <p:tgtEl>
                                          <p:spTgt spid="5123"/>
                                        </p:tgtEl>
                                        <p:attrNameLst>
                                          <p:attrName>ppt_w</p:attrName>
                                        </p:attrNameLst>
                                      </p:cBhvr>
                                      <p:tavLst>
                                        <p:tav tm="0">
                                          <p:val>
                                            <p:fltVal val="0"/>
                                          </p:val>
                                        </p:tav>
                                        <p:tav tm="100000">
                                          <p:val>
                                            <p:strVal val="#ppt_w"/>
                                          </p:val>
                                        </p:tav>
                                      </p:tavLst>
                                    </p:anim>
                                    <p:anim calcmode="lin" valueType="num">
                                      <p:cBhvr>
                                        <p:cTn id="8" dur="1000" fill="hold"/>
                                        <p:tgtEl>
                                          <p:spTgt spid="5123"/>
                                        </p:tgtEl>
                                        <p:attrNameLst>
                                          <p:attrName>ppt_h</p:attrName>
                                        </p:attrNameLst>
                                      </p:cBhvr>
                                      <p:tavLst>
                                        <p:tav tm="0">
                                          <p:val>
                                            <p:fltVal val="0"/>
                                          </p:val>
                                        </p:tav>
                                        <p:tav tm="100000">
                                          <p:val>
                                            <p:strVal val="#ppt_h"/>
                                          </p:val>
                                        </p:tav>
                                      </p:tavLst>
                                    </p:anim>
                                    <p:animEffect transition="in" filter="fade">
                                      <p:cBhvr>
                                        <p:cTn id="9" dur="1000"/>
                                        <p:tgtEl>
                                          <p:spTgt spid="5123"/>
                                        </p:tgtEl>
                                      </p:cBhvr>
                                    </p:animEffect>
                                  </p:childTnLst>
                                </p:cTn>
                              </p:par>
                            </p:childTnLst>
                          </p:cTn>
                        </p:par>
                      </p:childTnLst>
                    </p:cTn>
                  </p:par>
                  <p:par>
                    <p:cTn id="10" fill="hold">
                      <p:stCondLst>
                        <p:cond delay="indefinite"/>
                      </p:stCondLst>
                      <p:childTnLst>
                        <p:par>
                          <p:cTn id="11" fill="hold">
                            <p:stCondLst>
                              <p:cond delay="0"/>
                            </p:stCondLst>
                            <p:childTnLst>
                              <p:par>
                                <p:cTn id="12" presetID="39" presetClass="entr" presetSubtype="0" accel="100000" fill="hold"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 calcmode="lin" valueType="num">
                                      <p:cBhvr>
                                        <p:cTn id="14" dur="1000" fill="hold"/>
                                        <p:tgtEl>
                                          <p:spTgt spid="7">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15" dur="1000" fill="hold"/>
                                        <p:tgtEl>
                                          <p:spTgt spid="7">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16" dur="1000" fill="hold"/>
                                        <p:tgtEl>
                                          <p:spTgt spid="7">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7" dur="1000" fill="hold"/>
                                        <p:tgtEl>
                                          <p:spTgt spid="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9"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p:cTn id="22" dur="1000" fill="hold"/>
                                        <p:tgtEl>
                                          <p:spTgt spid="12"/>
                                        </p:tgtEl>
                                        <p:attrNameLst>
                                          <p:attrName>ppt_x</p:attrName>
                                        </p:attrNameLst>
                                      </p:cBhvr>
                                      <p:tavLst>
                                        <p:tav tm="0">
                                          <p:val>
                                            <p:strVal val="#ppt_x-.2"/>
                                          </p:val>
                                        </p:tav>
                                        <p:tav tm="100000">
                                          <p:val>
                                            <p:strVal val="#ppt_x"/>
                                          </p:val>
                                        </p:tav>
                                      </p:tavLst>
                                    </p:anim>
                                    <p:anim calcmode="lin" valueType="num">
                                      <p:cBhvr>
                                        <p:cTn id="23" dur="1000" fill="hold"/>
                                        <p:tgtEl>
                                          <p:spTgt spid="12"/>
                                        </p:tgtEl>
                                        <p:attrNameLst>
                                          <p:attrName>ppt_y</p:attrName>
                                        </p:attrNameLst>
                                      </p:cBhvr>
                                      <p:tavLst>
                                        <p:tav tm="0">
                                          <p:val>
                                            <p:strVal val="#ppt_y"/>
                                          </p:val>
                                        </p:tav>
                                        <p:tav tm="100000">
                                          <p:val>
                                            <p:strVal val="#ppt_y"/>
                                          </p:val>
                                        </p:tav>
                                      </p:tavLst>
                                    </p:anim>
                                    <p:animEffect transition="in" filter="wipe(right)" prLst="gradientSize: 0.1">
                                      <p:cBhvr>
                                        <p:cTn id="24" dur="10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0" fill="hold" nodeType="clickEffect">
                                  <p:stCondLst>
                                    <p:cond delay="0"/>
                                  </p:stCondLst>
                                  <p:childTnLst>
                                    <p:set>
                                      <p:cBhvr>
                                        <p:cTn id="28" dur="1" fill="hold">
                                          <p:stCondLst>
                                            <p:cond delay="0"/>
                                          </p:stCondLst>
                                        </p:cTn>
                                        <p:tgtEl>
                                          <p:spTgt spid="5124"/>
                                        </p:tgtEl>
                                        <p:attrNameLst>
                                          <p:attrName>style.visibility</p:attrName>
                                        </p:attrNameLst>
                                      </p:cBhvr>
                                      <p:to>
                                        <p:strVal val="visible"/>
                                      </p:to>
                                    </p:set>
                                    <p:anim calcmode="lin" valueType="num">
                                      <p:cBhvr>
                                        <p:cTn id="29" dur="1000" fill="hold"/>
                                        <p:tgtEl>
                                          <p:spTgt spid="5124"/>
                                        </p:tgtEl>
                                        <p:attrNameLst>
                                          <p:attrName>ppt_w</p:attrName>
                                        </p:attrNameLst>
                                      </p:cBhvr>
                                      <p:tavLst>
                                        <p:tav tm="0">
                                          <p:val>
                                            <p:fltVal val="0"/>
                                          </p:val>
                                        </p:tav>
                                        <p:tav tm="100000">
                                          <p:val>
                                            <p:strVal val="#ppt_w"/>
                                          </p:val>
                                        </p:tav>
                                      </p:tavLst>
                                    </p:anim>
                                    <p:anim calcmode="lin" valueType="num">
                                      <p:cBhvr>
                                        <p:cTn id="30" dur="1000" fill="hold"/>
                                        <p:tgtEl>
                                          <p:spTgt spid="5124"/>
                                        </p:tgtEl>
                                        <p:attrNameLst>
                                          <p:attrName>ppt_h</p:attrName>
                                        </p:attrNameLst>
                                      </p:cBhvr>
                                      <p:tavLst>
                                        <p:tav tm="0">
                                          <p:val>
                                            <p:fltVal val="0"/>
                                          </p:val>
                                        </p:tav>
                                        <p:tav tm="100000">
                                          <p:val>
                                            <p:strVal val="#ppt_h"/>
                                          </p:val>
                                        </p:tav>
                                      </p:tavLst>
                                    </p:anim>
                                    <p:animEffect transition="in" filter="fade">
                                      <p:cBhvr>
                                        <p:cTn id="31" dur="1000"/>
                                        <p:tgtEl>
                                          <p:spTgt spid="5124"/>
                                        </p:tgtEl>
                                      </p:cBhvr>
                                    </p:animEffect>
                                  </p:childTnLst>
                                </p:cTn>
                              </p:par>
                            </p:childTnLst>
                          </p:cTn>
                        </p:par>
                      </p:childTnLst>
                    </p:cTn>
                  </p:par>
                  <p:par>
                    <p:cTn id="32" fill="hold">
                      <p:stCondLst>
                        <p:cond delay="indefinite"/>
                      </p:stCondLst>
                      <p:childTnLst>
                        <p:par>
                          <p:cTn id="33" fill="hold">
                            <p:stCondLst>
                              <p:cond delay="0"/>
                            </p:stCondLst>
                            <p:childTnLst>
                              <p:par>
                                <p:cTn id="34" presetID="39" presetClass="entr" presetSubtype="0" accel="100000" fill="hold" nodeType="clickEffect">
                                  <p:stCondLst>
                                    <p:cond delay="0"/>
                                  </p:stCondLst>
                                  <p:childTnLst>
                                    <p:set>
                                      <p:cBhvr>
                                        <p:cTn id="35" dur="1" fill="hold">
                                          <p:stCondLst>
                                            <p:cond delay="0"/>
                                          </p:stCondLst>
                                        </p:cTn>
                                        <p:tgtEl>
                                          <p:spTgt spid="9">
                                            <p:txEl>
                                              <p:pRg st="0" end="0"/>
                                            </p:txEl>
                                          </p:spTgt>
                                        </p:tgtEl>
                                        <p:attrNameLst>
                                          <p:attrName>style.visibility</p:attrName>
                                        </p:attrNameLst>
                                      </p:cBhvr>
                                      <p:to>
                                        <p:strVal val="visible"/>
                                      </p:to>
                                    </p:set>
                                    <p:anim calcmode="lin" valueType="num">
                                      <p:cBhvr>
                                        <p:cTn id="36" dur="500" fill="hold"/>
                                        <p:tgtEl>
                                          <p:spTgt spid="9">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37" dur="500" fill="hold"/>
                                        <p:tgtEl>
                                          <p:spTgt spid="9">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38" dur="500" fill="hold"/>
                                        <p:tgtEl>
                                          <p:spTgt spid="9">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39" dur="500" fill="hold"/>
                                        <p:tgtEl>
                                          <p:spTgt spid="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7" presetClass="entr" presetSubtype="0" fill="hold" grpId="0"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1000"/>
                                        <p:tgtEl>
                                          <p:spTgt spid="13"/>
                                        </p:tgtEl>
                                      </p:cBhvr>
                                    </p:animEffect>
                                    <p:anim calcmode="lin" valueType="num">
                                      <p:cBhvr>
                                        <p:cTn id="45" dur="1000" fill="hold"/>
                                        <p:tgtEl>
                                          <p:spTgt spid="13"/>
                                        </p:tgtEl>
                                        <p:attrNameLst>
                                          <p:attrName>ppt_x</p:attrName>
                                        </p:attrNameLst>
                                      </p:cBhvr>
                                      <p:tavLst>
                                        <p:tav tm="0">
                                          <p:val>
                                            <p:strVal val="#ppt_x"/>
                                          </p:val>
                                        </p:tav>
                                        <p:tav tm="100000">
                                          <p:val>
                                            <p:strVal val="#ppt_x"/>
                                          </p:val>
                                        </p:tav>
                                      </p:tavLst>
                                    </p:anim>
                                    <p:anim calcmode="lin" valueType="num">
                                      <p:cBhvr>
                                        <p:cTn id="4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53" presetClass="entr" presetSubtype="0" fill="hold" nodeType="clickEffect">
                                  <p:stCondLst>
                                    <p:cond delay="0"/>
                                  </p:stCondLst>
                                  <p:childTnLst>
                                    <p:set>
                                      <p:cBhvr>
                                        <p:cTn id="50" dur="1" fill="hold">
                                          <p:stCondLst>
                                            <p:cond delay="0"/>
                                          </p:stCondLst>
                                        </p:cTn>
                                        <p:tgtEl>
                                          <p:spTgt spid="5122"/>
                                        </p:tgtEl>
                                        <p:attrNameLst>
                                          <p:attrName>style.visibility</p:attrName>
                                        </p:attrNameLst>
                                      </p:cBhvr>
                                      <p:to>
                                        <p:strVal val="visible"/>
                                      </p:to>
                                    </p:set>
                                    <p:anim calcmode="lin" valueType="num">
                                      <p:cBhvr>
                                        <p:cTn id="51" dur="500" fill="hold"/>
                                        <p:tgtEl>
                                          <p:spTgt spid="5122"/>
                                        </p:tgtEl>
                                        <p:attrNameLst>
                                          <p:attrName>ppt_w</p:attrName>
                                        </p:attrNameLst>
                                      </p:cBhvr>
                                      <p:tavLst>
                                        <p:tav tm="0">
                                          <p:val>
                                            <p:fltVal val="0"/>
                                          </p:val>
                                        </p:tav>
                                        <p:tav tm="100000">
                                          <p:val>
                                            <p:strVal val="#ppt_w"/>
                                          </p:val>
                                        </p:tav>
                                      </p:tavLst>
                                    </p:anim>
                                    <p:anim calcmode="lin" valueType="num">
                                      <p:cBhvr>
                                        <p:cTn id="52" dur="500" fill="hold"/>
                                        <p:tgtEl>
                                          <p:spTgt spid="5122"/>
                                        </p:tgtEl>
                                        <p:attrNameLst>
                                          <p:attrName>ppt_h</p:attrName>
                                        </p:attrNameLst>
                                      </p:cBhvr>
                                      <p:tavLst>
                                        <p:tav tm="0">
                                          <p:val>
                                            <p:fltVal val="0"/>
                                          </p:val>
                                        </p:tav>
                                        <p:tav tm="100000">
                                          <p:val>
                                            <p:strVal val="#ppt_h"/>
                                          </p:val>
                                        </p:tav>
                                      </p:tavLst>
                                    </p:anim>
                                    <p:animEffect transition="in" filter="fade">
                                      <p:cBhvr>
                                        <p:cTn id="53" dur="500"/>
                                        <p:tgtEl>
                                          <p:spTgt spid="5122"/>
                                        </p:tgtEl>
                                      </p:cBhvr>
                                    </p:animEffect>
                                  </p:childTnLst>
                                </p:cTn>
                              </p:par>
                            </p:childTnLst>
                          </p:cTn>
                        </p:par>
                      </p:childTnLst>
                    </p:cTn>
                  </p:par>
                  <p:par>
                    <p:cTn id="54" fill="hold">
                      <p:stCondLst>
                        <p:cond delay="indefinite"/>
                      </p:stCondLst>
                      <p:childTnLst>
                        <p:par>
                          <p:cTn id="55" fill="hold">
                            <p:stCondLst>
                              <p:cond delay="0"/>
                            </p:stCondLst>
                            <p:childTnLst>
                              <p:par>
                                <p:cTn id="56" presetID="39" presetClass="entr" presetSubtype="0" accel="100000" fill="hold" nodeType="clickEffect">
                                  <p:stCondLst>
                                    <p:cond delay="0"/>
                                  </p:stCondLst>
                                  <p:childTnLst>
                                    <p:set>
                                      <p:cBhvr>
                                        <p:cTn id="57" dur="1" fill="hold">
                                          <p:stCondLst>
                                            <p:cond delay="0"/>
                                          </p:stCondLst>
                                        </p:cTn>
                                        <p:tgtEl>
                                          <p:spTgt spid="5">
                                            <p:txEl>
                                              <p:pRg st="0" end="0"/>
                                            </p:txEl>
                                          </p:spTgt>
                                        </p:tgtEl>
                                        <p:attrNameLst>
                                          <p:attrName>style.visibility</p:attrName>
                                        </p:attrNameLst>
                                      </p:cBhvr>
                                      <p:to>
                                        <p:strVal val="visible"/>
                                      </p:to>
                                    </p:set>
                                    <p:anim calcmode="lin" valueType="num">
                                      <p:cBhvr>
                                        <p:cTn id="58" dur="500" fill="hold"/>
                                        <p:tgtEl>
                                          <p:spTgt spid="5">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59" dur="500" fill="hold"/>
                                        <p:tgtEl>
                                          <p:spTgt spid="5">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60" dur="500" fill="hold"/>
                                        <p:tgtEl>
                                          <p:spTgt spid="5">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61" dur="500" fill="hold"/>
                                        <p:tgtEl>
                                          <p:spTgt spid="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9" presetClass="entr" presetSubtype="0" fill="hold" grpId="0" nodeType="clickEffect">
                                  <p:stCondLst>
                                    <p:cond delay="0"/>
                                  </p:stCondLst>
                                  <p:childTnLst>
                                    <p:set>
                                      <p:cBhvr>
                                        <p:cTn id="65" dur="1" fill="hold">
                                          <p:stCondLst>
                                            <p:cond delay="0"/>
                                          </p:stCondLst>
                                        </p:cTn>
                                        <p:tgtEl>
                                          <p:spTgt spid="15"/>
                                        </p:tgtEl>
                                        <p:attrNameLst>
                                          <p:attrName>style.visibility</p:attrName>
                                        </p:attrNameLst>
                                      </p:cBhvr>
                                      <p:to>
                                        <p:strVal val="visible"/>
                                      </p:to>
                                    </p:set>
                                    <p:anim calcmode="lin" valueType="num">
                                      <p:cBhvr>
                                        <p:cTn id="66" dur="1000" fill="hold"/>
                                        <p:tgtEl>
                                          <p:spTgt spid="15"/>
                                        </p:tgtEl>
                                        <p:attrNameLst>
                                          <p:attrName>ppt_x</p:attrName>
                                        </p:attrNameLst>
                                      </p:cBhvr>
                                      <p:tavLst>
                                        <p:tav tm="0">
                                          <p:val>
                                            <p:strVal val="#ppt_x-.2"/>
                                          </p:val>
                                        </p:tav>
                                        <p:tav tm="100000">
                                          <p:val>
                                            <p:strVal val="#ppt_x"/>
                                          </p:val>
                                        </p:tav>
                                      </p:tavLst>
                                    </p:anim>
                                    <p:anim calcmode="lin" valueType="num">
                                      <p:cBhvr>
                                        <p:cTn id="67" dur="1000" fill="hold"/>
                                        <p:tgtEl>
                                          <p:spTgt spid="15"/>
                                        </p:tgtEl>
                                        <p:attrNameLst>
                                          <p:attrName>ppt_y</p:attrName>
                                        </p:attrNameLst>
                                      </p:cBhvr>
                                      <p:tavLst>
                                        <p:tav tm="0">
                                          <p:val>
                                            <p:strVal val="#ppt_y"/>
                                          </p:val>
                                        </p:tav>
                                        <p:tav tm="100000">
                                          <p:val>
                                            <p:strVal val="#ppt_y"/>
                                          </p:val>
                                        </p:tav>
                                      </p:tavLst>
                                    </p:anim>
                                    <p:animEffect transition="in" filter="wipe(right)" prLst="gradientSize: 0.1">
                                      <p:cBhvr>
                                        <p:cTn id="68" dur="1000"/>
                                        <p:tgtEl>
                                          <p:spTgt spid="15"/>
                                        </p:tgtEl>
                                      </p:cBhvr>
                                    </p:animEffect>
                                  </p:childTnLst>
                                </p:cTn>
                              </p:par>
                            </p:childTnLst>
                          </p:cTn>
                        </p:par>
                      </p:childTnLst>
                    </p:cTn>
                  </p:par>
                  <p:par>
                    <p:cTn id="69" fill="hold">
                      <p:stCondLst>
                        <p:cond delay="indefinite"/>
                      </p:stCondLst>
                      <p:childTnLst>
                        <p:par>
                          <p:cTn id="70" fill="hold">
                            <p:stCondLst>
                              <p:cond delay="0"/>
                            </p:stCondLst>
                            <p:childTnLst>
                              <p:par>
                                <p:cTn id="71" presetID="39" presetClass="entr" presetSubtype="0" accel="100000" fill="hold" grpId="0" nodeType="clickEffect">
                                  <p:stCondLst>
                                    <p:cond delay="0"/>
                                  </p:stCondLst>
                                  <p:childTnLst>
                                    <p:set>
                                      <p:cBhvr>
                                        <p:cTn id="72" dur="1" fill="hold">
                                          <p:stCondLst>
                                            <p:cond delay="0"/>
                                          </p:stCondLst>
                                        </p:cTn>
                                        <p:tgtEl>
                                          <p:spTgt spid="11"/>
                                        </p:tgtEl>
                                        <p:attrNameLst>
                                          <p:attrName>style.visibility</p:attrName>
                                        </p:attrNameLst>
                                      </p:cBhvr>
                                      <p:to>
                                        <p:strVal val="visible"/>
                                      </p:to>
                                    </p:set>
                                    <p:anim calcmode="lin" valueType="num">
                                      <p:cBhvr>
                                        <p:cTn id="73" dur="1000" fill="hold"/>
                                        <p:tgtEl>
                                          <p:spTgt spid="11"/>
                                        </p:tgtEl>
                                        <p:attrNameLst>
                                          <p:attrName>ppt_h</p:attrName>
                                        </p:attrNameLst>
                                      </p:cBhvr>
                                      <p:tavLst>
                                        <p:tav tm="0">
                                          <p:val>
                                            <p:strVal val="#ppt_h/20"/>
                                          </p:val>
                                        </p:tav>
                                        <p:tav tm="50000">
                                          <p:val>
                                            <p:strVal val="#ppt_h/20"/>
                                          </p:val>
                                        </p:tav>
                                        <p:tav tm="100000">
                                          <p:val>
                                            <p:strVal val="#ppt_h"/>
                                          </p:val>
                                        </p:tav>
                                      </p:tavLst>
                                    </p:anim>
                                    <p:anim calcmode="lin" valueType="num">
                                      <p:cBhvr>
                                        <p:cTn id="74" dur="1000" fill="hold"/>
                                        <p:tgtEl>
                                          <p:spTgt spid="11"/>
                                        </p:tgtEl>
                                        <p:attrNameLst>
                                          <p:attrName>ppt_w</p:attrName>
                                        </p:attrNameLst>
                                      </p:cBhvr>
                                      <p:tavLst>
                                        <p:tav tm="0">
                                          <p:val>
                                            <p:strVal val="#ppt_w+.3"/>
                                          </p:val>
                                        </p:tav>
                                        <p:tav tm="50000">
                                          <p:val>
                                            <p:strVal val="#ppt_w+.3"/>
                                          </p:val>
                                        </p:tav>
                                        <p:tav tm="100000">
                                          <p:val>
                                            <p:strVal val="#ppt_w"/>
                                          </p:val>
                                        </p:tav>
                                      </p:tavLst>
                                    </p:anim>
                                    <p:anim calcmode="lin" valueType="num">
                                      <p:cBhvr>
                                        <p:cTn id="75" dur="1000" fill="hold"/>
                                        <p:tgtEl>
                                          <p:spTgt spid="11"/>
                                        </p:tgtEl>
                                        <p:attrNameLst>
                                          <p:attrName>ppt_x</p:attrName>
                                        </p:attrNameLst>
                                      </p:cBhvr>
                                      <p:tavLst>
                                        <p:tav tm="0">
                                          <p:val>
                                            <p:strVal val="#ppt_x-.3"/>
                                          </p:val>
                                        </p:tav>
                                        <p:tav tm="50000">
                                          <p:val>
                                            <p:strVal val="#ppt_x"/>
                                          </p:val>
                                        </p:tav>
                                        <p:tav tm="100000">
                                          <p:val>
                                            <p:strVal val="#ppt_x"/>
                                          </p:val>
                                        </p:tav>
                                      </p:tavLst>
                                    </p:anim>
                                    <p:anim calcmode="lin" valueType="num">
                                      <p:cBhvr>
                                        <p:cTn id="76" dur="10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53" presetClass="entr" presetSubtype="0" fill="hold" nodeType="clickEffect">
                                  <p:stCondLst>
                                    <p:cond delay="0"/>
                                  </p:stCondLst>
                                  <p:childTnLst>
                                    <p:set>
                                      <p:cBhvr>
                                        <p:cTn id="80" dur="1" fill="hold">
                                          <p:stCondLst>
                                            <p:cond delay="0"/>
                                          </p:stCondLst>
                                        </p:cTn>
                                        <p:tgtEl>
                                          <p:spTgt spid="16"/>
                                        </p:tgtEl>
                                        <p:attrNameLst>
                                          <p:attrName>style.visibility</p:attrName>
                                        </p:attrNameLst>
                                      </p:cBhvr>
                                      <p:to>
                                        <p:strVal val="visible"/>
                                      </p:to>
                                    </p:set>
                                    <p:anim calcmode="lin" valueType="num">
                                      <p:cBhvr>
                                        <p:cTn id="81" dur="1000" fill="hold"/>
                                        <p:tgtEl>
                                          <p:spTgt spid="16"/>
                                        </p:tgtEl>
                                        <p:attrNameLst>
                                          <p:attrName>ppt_w</p:attrName>
                                        </p:attrNameLst>
                                      </p:cBhvr>
                                      <p:tavLst>
                                        <p:tav tm="0">
                                          <p:val>
                                            <p:fltVal val="0"/>
                                          </p:val>
                                        </p:tav>
                                        <p:tav tm="100000">
                                          <p:val>
                                            <p:strVal val="#ppt_w"/>
                                          </p:val>
                                        </p:tav>
                                      </p:tavLst>
                                    </p:anim>
                                    <p:anim calcmode="lin" valueType="num">
                                      <p:cBhvr>
                                        <p:cTn id="82" dur="1000" fill="hold"/>
                                        <p:tgtEl>
                                          <p:spTgt spid="16"/>
                                        </p:tgtEl>
                                        <p:attrNameLst>
                                          <p:attrName>ppt_h</p:attrName>
                                        </p:attrNameLst>
                                      </p:cBhvr>
                                      <p:tavLst>
                                        <p:tav tm="0">
                                          <p:val>
                                            <p:fltVal val="0"/>
                                          </p:val>
                                        </p:tav>
                                        <p:tav tm="100000">
                                          <p:val>
                                            <p:strVal val="#ppt_h"/>
                                          </p:val>
                                        </p:tav>
                                      </p:tavLst>
                                    </p:anim>
                                    <p:animEffect transition="in" filter="fade">
                                      <p:cBhvr>
                                        <p:cTn id="83"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animBg="1"/>
      <p:bldP spid="13" grpId="0" animBg="1"/>
      <p:bldP spid="1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 xmlns:a16="http://schemas.microsoft.com/office/drawing/2014/main" id="{6C4F767D-BE6B-493C-813B-E72E49313EC1}"/>
              </a:ext>
            </a:extLst>
          </p:cNvPr>
          <p:cNvPicPr>
            <a:picLocks noChangeAspect="1"/>
          </p:cNvPicPr>
          <p:nvPr/>
        </p:nvPicPr>
        <p:blipFill>
          <a:blip r:embed="rId2"/>
          <a:stretch>
            <a:fillRect/>
          </a:stretch>
        </p:blipFill>
        <p:spPr>
          <a:xfrm>
            <a:off x="3047999" y="447674"/>
            <a:ext cx="3313413" cy="6410325"/>
          </a:xfrm>
          <a:prstGeom prst="rect">
            <a:avLst/>
          </a:prstGeom>
        </p:spPr>
      </p:pic>
      <p:sp>
        <p:nvSpPr>
          <p:cNvPr id="8" name="TextBox 7">
            <a:extLst>
              <a:ext uri="{FF2B5EF4-FFF2-40B4-BE49-F238E27FC236}">
                <a16:creationId xmlns="" xmlns:a16="http://schemas.microsoft.com/office/drawing/2014/main" id="{A4532F4D-3628-412E-AC9F-367774836782}"/>
              </a:ext>
            </a:extLst>
          </p:cNvPr>
          <p:cNvSpPr txBox="1"/>
          <p:nvPr/>
        </p:nvSpPr>
        <p:spPr>
          <a:xfrm>
            <a:off x="351155" y="0"/>
            <a:ext cx="8441690" cy="461665"/>
          </a:xfrm>
          <a:prstGeom prst="rect">
            <a:avLst/>
          </a:prstGeom>
          <a:noFill/>
        </p:spPr>
        <p:txBody>
          <a:bodyPr wrap="square" rtlCol="0">
            <a:spAutoFit/>
          </a:bodyPr>
          <a:lstStyle/>
          <a:p>
            <a:pPr algn="ctr"/>
            <a:r>
              <a:rPr lang="en-IN" sz="2400" b="1" dirty="0">
                <a:latin typeface="Arial" panose="020B0604020202020204" pitchFamily="34" charset="0"/>
                <a:cs typeface="Arial" panose="020B0604020202020204" pitchFamily="34" charset="0"/>
              </a:rPr>
              <a:t>Working of Gesture Recognition based Image Capture</a:t>
            </a:r>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buFont typeface="Wingdings" panose="05000000000000000000" pitchFamily="2" charset="2"/>
              <a:buChar char="§"/>
            </a:pPr>
            <a:r>
              <a:rPr lang="en-US" b="1" dirty="0">
                <a:latin typeface="Arial" panose="020B0604020202020204" pitchFamily="34" charset="0"/>
                <a:cs typeface="Arial" panose="020B0604020202020204" pitchFamily="34" charset="0"/>
              </a:rPr>
              <a:t>Color Recognition: </a:t>
            </a:r>
            <a:r>
              <a:rPr lang="en-US" dirty="0">
                <a:latin typeface="Arial" panose="020B0604020202020204" pitchFamily="34" charset="0"/>
                <a:cs typeface="Arial" panose="020B0604020202020204" pitchFamily="34" charset="0"/>
              </a:rPr>
              <a:t>Color recognition is done through computer vision. Color recognition involves detection of appropriate color.</a:t>
            </a:r>
          </a:p>
          <a:p>
            <a:pPr>
              <a:buFont typeface="Wingdings" panose="05000000000000000000" pitchFamily="2" charset="2"/>
              <a:buChar char="§"/>
            </a:pPr>
            <a:r>
              <a:rPr lang="en-US" b="1" dirty="0">
                <a:latin typeface="Arial" panose="020B0604020202020204" pitchFamily="34" charset="0"/>
                <a:cs typeface="Arial" panose="020B0604020202020204" pitchFamily="34" charset="0"/>
              </a:rPr>
              <a:t>Contour: </a:t>
            </a:r>
            <a:r>
              <a:rPr lang="en-US" dirty="0">
                <a:latin typeface="Arial" panose="020B0604020202020204" pitchFamily="34" charset="0"/>
                <a:cs typeface="Arial" panose="020B0604020202020204" pitchFamily="34" charset="0"/>
              </a:rPr>
              <a:t>A contour of all  the continuous points is plotted</a:t>
            </a:r>
            <a:r>
              <a:rPr lang="en-US" b="1" dirty="0">
                <a:latin typeface="Arial" panose="020B0604020202020204" pitchFamily="34" charset="0"/>
                <a:cs typeface="Arial" panose="020B0604020202020204" pitchFamily="34" charset="0"/>
              </a:rPr>
              <a:t> .</a:t>
            </a:r>
          </a:p>
          <a:p>
            <a:pPr>
              <a:buFont typeface="Wingdings" panose="05000000000000000000" pitchFamily="2" charset="2"/>
              <a:buChar char="§"/>
            </a:pPr>
            <a:r>
              <a:rPr lang="en-US" b="1" dirty="0">
                <a:latin typeface="Arial" panose="020B0604020202020204" pitchFamily="34" charset="0"/>
                <a:cs typeface="Arial" panose="020B0604020202020204" pitchFamily="34" charset="0"/>
              </a:rPr>
              <a:t>Center </a:t>
            </a:r>
            <a:r>
              <a:rPr lang="en-US" dirty="0">
                <a:latin typeface="Arial" panose="020B0604020202020204" pitchFamily="34" charset="0"/>
                <a:cs typeface="Arial" panose="020B0604020202020204" pitchFamily="34" charset="0"/>
              </a:rPr>
              <a:t>of the contour is obtained.</a:t>
            </a:r>
          </a:p>
          <a:p>
            <a:pPr>
              <a:buFont typeface="Wingdings" panose="05000000000000000000" pitchFamily="2" charset="2"/>
              <a:buChar char="§"/>
            </a:pPr>
            <a:r>
              <a:rPr lang="en-US" b="1" dirty="0">
                <a:latin typeface="Arial" panose="020B0604020202020204" pitchFamily="34" charset="0"/>
                <a:cs typeface="Arial" panose="020B0604020202020204" pitchFamily="34" charset="0"/>
              </a:rPr>
              <a:t>Tracing: </a:t>
            </a:r>
            <a:r>
              <a:rPr lang="en-US" dirty="0">
                <a:latin typeface="Arial" panose="020B0604020202020204" pitchFamily="34" charset="0"/>
                <a:cs typeface="Arial" panose="020B0604020202020204" pitchFamily="34" charset="0"/>
              </a:rPr>
              <a:t>The center is traced and user is able to draw on the virtual paint application.</a:t>
            </a:r>
          </a:p>
        </p:txBody>
      </p:sp>
      <p:sp>
        <p:nvSpPr>
          <p:cNvPr id="5" name="TextBox 4">
            <a:extLst>
              <a:ext uri="{FF2B5EF4-FFF2-40B4-BE49-F238E27FC236}">
                <a16:creationId xmlns="" xmlns:a16="http://schemas.microsoft.com/office/drawing/2014/main" id="{AE191647-1BD2-4890-88AF-0F32E9512856}"/>
              </a:ext>
            </a:extLst>
          </p:cNvPr>
          <p:cNvSpPr txBox="1"/>
          <p:nvPr/>
        </p:nvSpPr>
        <p:spPr>
          <a:xfrm>
            <a:off x="1295400" y="457200"/>
            <a:ext cx="6705600" cy="646331"/>
          </a:xfrm>
          <a:prstGeom prst="rect">
            <a:avLst/>
          </a:prstGeom>
          <a:noFill/>
        </p:spPr>
        <p:txBody>
          <a:bodyPr wrap="square" rtlCol="0">
            <a:spAutoFit/>
          </a:bodyPr>
          <a:lstStyle/>
          <a:p>
            <a:pPr algn="ctr"/>
            <a:r>
              <a:rPr lang="en-IN" sz="3600" b="1" dirty="0">
                <a:latin typeface="Arial" panose="020B0604020202020204" pitchFamily="34" charset="0"/>
                <a:cs typeface="Arial" panose="020B0604020202020204" pitchFamily="34" charset="0"/>
              </a:rPr>
              <a:t>Steps for Drawing Application</a:t>
            </a:r>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060065" y="428584"/>
            <a:ext cx="3035935" cy="6463706"/>
          </a:xfrm>
          <a:prstGeom prst="rect">
            <a:avLst/>
          </a:prstGeom>
        </p:spPr>
      </p:pic>
      <p:sp>
        <p:nvSpPr>
          <p:cNvPr id="2" name="TextBox 1">
            <a:extLst>
              <a:ext uri="{FF2B5EF4-FFF2-40B4-BE49-F238E27FC236}">
                <a16:creationId xmlns="" xmlns:a16="http://schemas.microsoft.com/office/drawing/2014/main" id="{2C3B7521-88A7-48A8-B0E5-1524F60E4B54}"/>
              </a:ext>
            </a:extLst>
          </p:cNvPr>
          <p:cNvSpPr txBox="1"/>
          <p:nvPr/>
        </p:nvSpPr>
        <p:spPr>
          <a:xfrm>
            <a:off x="838200" y="7070"/>
            <a:ext cx="7467600" cy="461665"/>
          </a:xfrm>
          <a:prstGeom prst="rect">
            <a:avLst/>
          </a:prstGeom>
          <a:noFill/>
        </p:spPr>
        <p:txBody>
          <a:bodyPr wrap="square" rtlCol="0">
            <a:spAutoFit/>
          </a:bodyPr>
          <a:lstStyle/>
          <a:p>
            <a:pPr algn="ctr"/>
            <a:r>
              <a:rPr lang="en-IN" sz="2400" b="1" dirty="0">
                <a:latin typeface="Arial" panose="020B0604020202020204" pitchFamily="34" charset="0"/>
                <a:cs typeface="Arial" panose="020B0604020202020204" pitchFamily="34" charset="0"/>
              </a:rPr>
              <a:t>Working of Drawing Application</a:t>
            </a:r>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97840" y="1069149"/>
            <a:ext cx="8188960" cy="4493451"/>
          </a:xfrm>
        </p:spPr>
        <p:txBody>
          <a:bodyPr>
            <a:normAutofit/>
          </a:bodyPr>
          <a:lstStyle/>
          <a:p>
            <a:pPr algn="l">
              <a:buNone/>
            </a:pPr>
            <a:r>
              <a:rPr lang="en-US" sz="2200" b="1" dirty="0">
                <a:latin typeface="Arial" panose="020B0604020202020204" pitchFamily="34" charset="0"/>
                <a:cs typeface="Arial" panose="020B0604020202020204" pitchFamily="34" charset="0"/>
              </a:rPr>
              <a:t>1.Gesture Recognition based Image Capture</a:t>
            </a:r>
          </a:p>
          <a:p>
            <a:pPr algn="just">
              <a:buFont typeface="Wingdings" panose="05000000000000000000" charset="0"/>
              <a:buChar char="§"/>
            </a:pPr>
            <a:endParaRPr lang="en-US" sz="2200" b="1" dirty="0">
              <a:latin typeface="Arial" panose="020B0604020202020204" pitchFamily="34" charset="0"/>
              <a:cs typeface="Arial" panose="020B0604020202020204" pitchFamily="34" charset="0"/>
            </a:endParaRPr>
          </a:p>
          <a:p>
            <a:pPr algn="just">
              <a:buFont typeface="Courier New" panose="02070309020205020404" pitchFamily="49" charset="0"/>
              <a:buChar char="o"/>
            </a:pPr>
            <a:r>
              <a:rPr lang="en-US" sz="2200" dirty="0">
                <a:latin typeface="Arial" panose="020B0604020202020204" pitchFamily="34" charset="0"/>
                <a:cs typeface="Arial" panose="020B0604020202020204" pitchFamily="34" charset="0"/>
              </a:rPr>
              <a:t>The camera continuously captures real time video stream and once the appropriate gesture i.e. gesture of two having one convexity defect and angle between two fingers less than 70 degree is detected an image is captured. </a:t>
            </a:r>
          </a:p>
          <a:p>
            <a:pPr algn="just">
              <a:buFont typeface="Courier New" panose="02070309020205020404" pitchFamily="49" charset="0"/>
              <a:buChar char="o"/>
            </a:pPr>
            <a:r>
              <a:rPr lang="en-US" sz="2200" dirty="0">
                <a:latin typeface="Arial" panose="020B0604020202020204" pitchFamily="34" charset="0"/>
                <a:cs typeface="Arial" panose="020B0604020202020204" pitchFamily="34" charset="0"/>
              </a:rPr>
              <a:t>The accuracy of recognition of the gesture is detected using the Table . Table  shows the actual and the corresponding interpreted gestures. For each gesture 10 test cases are considered.</a:t>
            </a:r>
          </a:p>
          <a:p>
            <a:pPr algn="just">
              <a:buFont typeface="Wingdings" panose="05000000000000000000" charset="0"/>
              <a:buChar char="§"/>
            </a:pPr>
            <a:endParaRPr lang="en-US" sz="2400" b="1" dirty="0">
              <a:latin typeface="Arial" panose="020B0604020202020204" pitchFamily="34" charset="0"/>
              <a:cs typeface="Arial" panose="020B0604020202020204" pitchFamily="34" charset="0"/>
            </a:endParaRPr>
          </a:p>
        </p:txBody>
      </p:sp>
      <p:sp>
        <p:nvSpPr>
          <p:cNvPr id="8" name="TextBox 7">
            <a:extLst>
              <a:ext uri="{FF2B5EF4-FFF2-40B4-BE49-F238E27FC236}">
                <a16:creationId xmlns="" xmlns:a16="http://schemas.microsoft.com/office/drawing/2014/main" id="{11A80862-E6BA-4716-A9C5-F1534A451ADF}"/>
              </a:ext>
            </a:extLst>
          </p:cNvPr>
          <p:cNvSpPr txBox="1"/>
          <p:nvPr/>
        </p:nvSpPr>
        <p:spPr>
          <a:xfrm>
            <a:off x="3276600" y="152400"/>
            <a:ext cx="3048000" cy="707886"/>
          </a:xfrm>
          <a:prstGeom prst="rect">
            <a:avLst/>
          </a:prstGeom>
          <a:noFill/>
        </p:spPr>
        <p:txBody>
          <a:bodyPr wrap="square" rtlCol="0">
            <a:spAutoFit/>
          </a:bodyPr>
          <a:lstStyle/>
          <a:p>
            <a:pPr algn="ctr"/>
            <a:r>
              <a:rPr lang="en-IN" sz="4000" b="1" dirty="0">
                <a:latin typeface="Arial" panose="020B0604020202020204" pitchFamily="34" charset="0"/>
                <a:cs typeface="Arial" panose="020B0604020202020204" pitchFamily="34" charset="0"/>
              </a:rPr>
              <a:t>Results</a:t>
            </a:r>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a:srcRect/>
          <a:stretch>
            <a:fillRect/>
          </a:stretch>
        </p:blipFill>
        <p:spPr bwMode="auto">
          <a:xfrm>
            <a:off x="2057400" y="-9525"/>
            <a:ext cx="4934585" cy="6165215"/>
          </a:xfrm>
          <a:prstGeom prst="rect">
            <a:avLst/>
          </a:prstGeom>
          <a:noFill/>
          <a:ln w="9525">
            <a:noFill/>
            <a:miter lim="800000"/>
            <a:headEnd/>
            <a:tailEnd/>
          </a:ln>
          <a:effectLst/>
        </p:spPr>
      </p:pic>
      <p:sp>
        <p:nvSpPr>
          <p:cNvPr id="6" name="TextBox 5"/>
          <p:cNvSpPr txBox="1"/>
          <p:nvPr/>
        </p:nvSpPr>
        <p:spPr>
          <a:xfrm>
            <a:off x="2124075" y="6155690"/>
            <a:ext cx="4800600" cy="645160"/>
          </a:xfrm>
          <a:prstGeom prst="rect">
            <a:avLst/>
          </a:prstGeom>
          <a:noFill/>
        </p:spPr>
        <p:txBody>
          <a:bodyPr wrap="square" rtlCol="0">
            <a:spAutoFit/>
          </a:bodyPr>
          <a:lstStyle/>
          <a:p>
            <a:pPr algn="ctr"/>
            <a:r>
              <a:rPr lang="en-US" b="1" dirty="0">
                <a:latin typeface="Arial" panose="020B0604020202020204" pitchFamily="34" charset="0"/>
                <a:cs typeface="Arial" panose="020B0604020202020204" pitchFamily="34" charset="0"/>
              </a:rPr>
              <a:t>Hand Gesture Recognition Observation Table</a:t>
            </a:r>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a:srcRect/>
          <a:stretch>
            <a:fillRect/>
          </a:stretch>
        </p:blipFill>
        <p:spPr bwMode="auto">
          <a:xfrm>
            <a:off x="304800" y="533400"/>
            <a:ext cx="8538541" cy="1347420"/>
          </a:xfrm>
          <a:prstGeom prst="rect">
            <a:avLst/>
          </a:prstGeom>
          <a:noFill/>
          <a:ln w="9525">
            <a:noFill/>
            <a:miter lim="800000"/>
            <a:headEnd/>
            <a:tailEnd/>
          </a:ln>
          <a:effectLst/>
        </p:spPr>
      </p:pic>
      <p:sp>
        <p:nvSpPr>
          <p:cNvPr id="5" name="TextBox 4"/>
          <p:cNvSpPr txBox="1"/>
          <p:nvPr/>
        </p:nvSpPr>
        <p:spPr>
          <a:xfrm>
            <a:off x="3276600" y="1905000"/>
            <a:ext cx="3048000" cy="369332"/>
          </a:xfrm>
          <a:prstGeom prst="rect">
            <a:avLst/>
          </a:prstGeom>
          <a:noFill/>
        </p:spPr>
        <p:txBody>
          <a:bodyPr wrap="square" rtlCol="0">
            <a:spAutoFit/>
          </a:bodyPr>
          <a:lstStyle/>
          <a:p>
            <a:pPr algn="ctr"/>
            <a:r>
              <a:rPr lang="en-US" dirty="0"/>
              <a:t>Confusion Matrix</a:t>
            </a:r>
          </a:p>
        </p:txBody>
      </p:sp>
      <p:sp>
        <p:nvSpPr>
          <p:cNvPr id="4099" name="Rectangle 3"/>
          <p:cNvSpPr>
            <a:spLocks noChangeArrowheads="1"/>
          </p:cNvSpPr>
          <p:nvPr/>
        </p:nvSpPr>
        <p:spPr bwMode="auto">
          <a:xfrm>
            <a:off x="381000" y="2437537"/>
            <a:ext cx="8488736" cy="3476625"/>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sz="22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The accuracy of the system can be evaluated as-</a:t>
            </a:r>
            <a:endParaRPr kumimoji="0" 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sz="22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Accuracy = (TP+TN)/ (TP+TN+FP+FN)</a:t>
            </a:r>
            <a:endParaRPr kumimoji="0" 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sz="22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Substituting the values,</a:t>
            </a:r>
            <a:endParaRPr kumimoji="0" 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sz="22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Accuracy= (45/50)*100=90%</a:t>
            </a:r>
            <a:endParaRPr kumimoji="0" 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sz="22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Thus, accuracy of the system is calculated to be 90%. For this system plain background is desired and the</a:t>
            </a:r>
          </a:p>
          <a:p>
            <a:pPr marL="0" marR="0" lvl="0" indent="0" algn="just" defTabSz="914400" rtl="0" eaLnBrk="0" fontAlgn="base" latinLnBrk="0" hangingPunct="0">
              <a:lnSpc>
                <a:spcPct val="100000"/>
              </a:lnSpc>
              <a:spcBef>
                <a:spcPct val="0"/>
              </a:spcBef>
              <a:spcAft>
                <a:spcPct val="0"/>
              </a:spcAft>
              <a:buClrTx/>
              <a:buSzTx/>
              <a:buFontTx/>
              <a:buNone/>
            </a:pPr>
            <a:r>
              <a:rPr kumimoji="0" lang="en-US" sz="22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required gesture should be adjusted in the required rectangular field. </a:t>
            </a:r>
            <a:endParaRPr kumimoji="0" 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sz="22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The system performs reliably for hand gesture recognition if these two conditions are ensured.</a:t>
            </a:r>
            <a:endParaRPr kumimoji="0" 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sz="2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When required gesture is detected camera captures the image.</a:t>
            </a:r>
            <a:endParaRPr kumimoji="0" 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cstate="print">
            <a:extLst>
              <a:ext uri="{28A0092B-C50C-407E-A947-70E740481C1C}">
                <a14:useLocalDpi xmlns="" xmlns:a14="http://schemas.microsoft.com/office/drawing/2010/main" val="0"/>
              </a:ext>
            </a:extLst>
          </a:blip>
          <a:srcRect/>
          <a:stretch>
            <a:fillRect/>
          </a:stretch>
        </p:blipFill>
        <p:spPr>
          <a:xfrm>
            <a:off x="652145" y="570865"/>
            <a:ext cx="8034655" cy="5121275"/>
          </a:xfrm>
          <a:prstGeom prst="rect">
            <a:avLst/>
          </a:prstGeom>
          <a:noFill/>
          <a:ln>
            <a:noFill/>
          </a:ln>
        </p:spPr>
      </p:pic>
      <p:sp>
        <p:nvSpPr>
          <p:cNvPr id="5" name="Text Box 4"/>
          <p:cNvSpPr txBox="1"/>
          <p:nvPr/>
        </p:nvSpPr>
        <p:spPr>
          <a:xfrm>
            <a:off x="652780" y="5809615"/>
            <a:ext cx="8034655" cy="398780"/>
          </a:xfrm>
          <a:prstGeom prst="rect">
            <a:avLst/>
          </a:prstGeom>
          <a:noFill/>
        </p:spPr>
        <p:txBody>
          <a:bodyPr wrap="square" rtlCol="0" anchor="t">
            <a:spAutoFit/>
          </a:bodyPr>
          <a:lstStyle/>
          <a:p>
            <a:pPr algn="ctr"/>
            <a:r>
              <a:rPr lang="en-US" sz="2000" b="1" dirty="0"/>
              <a:t>Image Capture Based on Hand Gesture Recognition Result</a:t>
            </a:r>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 xmlns:a16="http://schemas.microsoft.com/office/drawing/2014/main" id="{61C173A8-ABDA-4DBB-871F-22D72D323664}"/>
              </a:ext>
            </a:extLst>
          </p:cNvPr>
          <p:cNvPicPr>
            <a:picLocks noChangeAspect="1" noChangeArrowheads="1"/>
          </p:cNvPicPr>
          <p:nvPr/>
        </p:nvPicPr>
        <p:blipFill>
          <a:blip r:embed="rId2"/>
          <a:srcRect/>
          <a:stretch>
            <a:fillRect/>
          </a:stretch>
        </p:blipFill>
        <p:spPr bwMode="auto">
          <a:xfrm>
            <a:off x="1295400" y="748607"/>
            <a:ext cx="1981200" cy="2106593"/>
          </a:xfrm>
          <a:prstGeom prst="rect">
            <a:avLst/>
          </a:prstGeom>
          <a:noFill/>
          <a:ln w="9525">
            <a:noFill/>
            <a:miter lim="800000"/>
            <a:headEnd/>
            <a:tailEnd/>
          </a:ln>
          <a:effectLst/>
        </p:spPr>
      </p:pic>
      <p:sp>
        <p:nvSpPr>
          <p:cNvPr id="7" name="TextBox 6">
            <a:extLst>
              <a:ext uri="{FF2B5EF4-FFF2-40B4-BE49-F238E27FC236}">
                <a16:creationId xmlns="" xmlns:a16="http://schemas.microsoft.com/office/drawing/2014/main" id="{25A9D504-D93F-4AE3-8ADE-05902E65F721}"/>
              </a:ext>
            </a:extLst>
          </p:cNvPr>
          <p:cNvSpPr txBox="1"/>
          <p:nvPr/>
        </p:nvSpPr>
        <p:spPr>
          <a:xfrm>
            <a:off x="1442301" y="2848130"/>
            <a:ext cx="1828800"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Segmentation</a:t>
            </a:r>
          </a:p>
        </p:txBody>
      </p:sp>
      <p:sp>
        <p:nvSpPr>
          <p:cNvPr id="8" name="TextBox 7">
            <a:extLst>
              <a:ext uri="{FF2B5EF4-FFF2-40B4-BE49-F238E27FC236}">
                <a16:creationId xmlns="" xmlns:a16="http://schemas.microsoft.com/office/drawing/2014/main" id="{78D0B259-3B8F-4DF8-83F5-71D6882FD5D2}"/>
              </a:ext>
            </a:extLst>
          </p:cNvPr>
          <p:cNvSpPr txBox="1"/>
          <p:nvPr/>
        </p:nvSpPr>
        <p:spPr>
          <a:xfrm>
            <a:off x="5835979" y="2827168"/>
            <a:ext cx="1752600" cy="646331"/>
          </a:xfrm>
          <a:prstGeom prst="rect">
            <a:avLst/>
          </a:prstGeom>
          <a:noFill/>
        </p:spPr>
        <p:txBody>
          <a:bodyPr wrap="square" rtlCol="0">
            <a:spAutoFit/>
          </a:bodyPr>
          <a:lstStyle/>
          <a:p>
            <a:pPr algn="ctr"/>
            <a:r>
              <a:rPr lang="en-US" b="1" dirty="0">
                <a:latin typeface="Arial" panose="020B0604020202020204" pitchFamily="34" charset="0"/>
                <a:cs typeface="Arial" panose="020B0604020202020204" pitchFamily="34" charset="0"/>
              </a:rPr>
              <a:t>Contour and Convex Hull</a:t>
            </a:r>
          </a:p>
        </p:txBody>
      </p:sp>
      <p:sp>
        <p:nvSpPr>
          <p:cNvPr id="9" name="TextBox 8">
            <a:extLst>
              <a:ext uri="{FF2B5EF4-FFF2-40B4-BE49-F238E27FC236}">
                <a16:creationId xmlns="" xmlns:a16="http://schemas.microsoft.com/office/drawing/2014/main" id="{1C2B7921-E600-4E30-9793-930C7C5AD56D}"/>
              </a:ext>
            </a:extLst>
          </p:cNvPr>
          <p:cNvSpPr txBox="1"/>
          <p:nvPr/>
        </p:nvSpPr>
        <p:spPr>
          <a:xfrm>
            <a:off x="1556601" y="5715000"/>
            <a:ext cx="1600200" cy="646331"/>
          </a:xfrm>
          <a:prstGeom prst="rect">
            <a:avLst/>
          </a:prstGeom>
          <a:noFill/>
        </p:spPr>
        <p:txBody>
          <a:bodyPr wrap="square" rtlCol="0">
            <a:spAutoFit/>
          </a:bodyPr>
          <a:lstStyle/>
          <a:p>
            <a:pPr algn="ctr"/>
            <a:r>
              <a:rPr lang="en-US" b="1" dirty="0">
                <a:latin typeface="Arial" panose="020B0604020202020204" pitchFamily="34" charset="0"/>
                <a:cs typeface="Arial" panose="020B0604020202020204" pitchFamily="34" charset="0"/>
              </a:rPr>
              <a:t>Convexity Defects</a:t>
            </a:r>
          </a:p>
        </p:txBody>
      </p:sp>
      <p:pic>
        <p:nvPicPr>
          <p:cNvPr id="10" name="Picture 9">
            <a:extLst>
              <a:ext uri="{FF2B5EF4-FFF2-40B4-BE49-F238E27FC236}">
                <a16:creationId xmlns="" xmlns:a16="http://schemas.microsoft.com/office/drawing/2014/main" id="{30C2E5CE-F6AB-49C2-AEBF-7DE7C0DC6434}"/>
              </a:ext>
            </a:extLst>
          </p:cNvPr>
          <p:cNvPicPr>
            <a:picLocks noChangeAspect="1"/>
          </p:cNvPicPr>
          <p:nvPr/>
        </p:nvPicPr>
        <p:blipFill>
          <a:blip r:embed="rId3"/>
          <a:stretch>
            <a:fillRect/>
          </a:stretch>
        </p:blipFill>
        <p:spPr>
          <a:xfrm>
            <a:off x="5219065" y="543063"/>
            <a:ext cx="2843138" cy="2305067"/>
          </a:xfrm>
          <a:prstGeom prst="rect">
            <a:avLst/>
          </a:prstGeom>
        </p:spPr>
      </p:pic>
      <p:pic>
        <p:nvPicPr>
          <p:cNvPr id="11" name="Picture 10">
            <a:extLst>
              <a:ext uri="{FF2B5EF4-FFF2-40B4-BE49-F238E27FC236}">
                <a16:creationId xmlns="" xmlns:a16="http://schemas.microsoft.com/office/drawing/2014/main" id="{A3573869-4E52-4F98-AEDD-5B46A9AEBF31}"/>
              </a:ext>
            </a:extLst>
          </p:cNvPr>
          <p:cNvPicPr>
            <a:picLocks noChangeAspect="1"/>
          </p:cNvPicPr>
          <p:nvPr/>
        </p:nvPicPr>
        <p:blipFill>
          <a:blip r:embed="rId4"/>
          <a:stretch>
            <a:fillRect/>
          </a:stretch>
        </p:blipFill>
        <p:spPr>
          <a:xfrm>
            <a:off x="1212064" y="3429000"/>
            <a:ext cx="2242828" cy="2235708"/>
          </a:xfrm>
          <a:prstGeom prst="rect">
            <a:avLst/>
          </a:prstGeom>
        </p:spPr>
      </p:pic>
      <p:pic>
        <p:nvPicPr>
          <p:cNvPr id="12" name="Picture 11" descr="FINGERCOUNT">
            <a:extLst>
              <a:ext uri="{FF2B5EF4-FFF2-40B4-BE49-F238E27FC236}">
                <a16:creationId xmlns="" xmlns:a16="http://schemas.microsoft.com/office/drawing/2014/main" id="{C857E0AB-9397-45EC-9AE6-990E5B665083}"/>
              </a:ext>
            </a:extLst>
          </p:cNvPr>
          <p:cNvPicPr/>
          <p:nvPr/>
        </p:nvPicPr>
        <p:blipFill>
          <a:blip r:embed="rId5"/>
          <a:stretch>
            <a:fillRect/>
          </a:stretch>
        </p:blipFill>
        <p:spPr>
          <a:xfrm>
            <a:off x="5715000" y="3483711"/>
            <a:ext cx="2132847" cy="2057678"/>
          </a:xfrm>
          <a:prstGeom prst="rect">
            <a:avLst/>
          </a:prstGeom>
        </p:spPr>
      </p:pic>
      <p:sp>
        <p:nvSpPr>
          <p:cNvPr id="13" name="TextBox 12">
            <a:extLst>
              <a:ext uri="{FF2B5EF4-FFF2-40B4-BE49-F238E27FC236}">
                <a16:creationId xmlns="" xmlns:a16="http://schemas.microsoft.com/office/drawing/2014/main" id="{2BD5A8E0-541E-4105-B441-9E4795785F3B}"/>
              </a:ext>
            </a:extLst>
          </p:cNvPr>
          <p:cNvSpPr txBox="1"/>
          <p:nvPr/>
        </p:nvSpPr>
        <p:spPr>
          <a:xfrm>
            <a:off x="5835979" y="5715000"/>
            <a:ext cx="1936421" cy="369332"/>
          </a:xfrm>
          <a:prstGeom prst="rect">
            <a:avLst/>
          </a:prstGeom>
          <a:noFill/>
        </p:spPr>
        <p:txBody>
          <a:bodyPr wrap="square" rtlCol="0">
            <a:spAutoFit/>
          </a:bodyPr>
          <a:lstStyle/>
          <a:p>
            <a:pPr algn="ctr"/>
            <a:r>
              <a:rPr lang="en-IN" b="1" dirty="0">
                <a:latin typeface="Arial" panose="020B0604020202020204" pitchFamily="34" charset="0"/>
                <a:cs typeface="Arial" panose="020B0604020202020204" pitchFamily="34" charset="0"/>
              </a:rPr>
              <a:t>Finger Count</a:t>
            </a:r>
          </a:p>
        </p:txBody>
      </p:sp>
    </p:spTree>
    <p:extLst>
      <p:ext uri="{BB962C8B-B14F-4D97-AF65-F5344CB8AC3E}">
        <p14:creationId xmlns="" xmlns:p14="http://schemas.microsoft.com/office/powerpoint/2010/main" val="3237979306"/>
      </p:ext>
    </p:extLst>
  </p:cSld>
  <p:clrMapOvr>
    <a:masterClrMapping/>
  </p:clrMapOvr>
  <p:transition spd="slow">
    <p:randomBar dir="vert"/>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75640"/>
            <a:ext cx="8229600" cy="5016691"/>
          </a:xfrm>
        </p:spPr>
        <p:txBody>
          <a:bodyPr>
            <a:normAutofit/>
          </a:bodyPr>
          <a:lstStyle/>
          <a:p>
            <a:pPr marL="109855" indent="0" algn="l">
              <a:buFont typeface="Wingdings" panose="05000000000000000000" charset="0"/>
              <a:buNone/>
            </a:pPr>
            <a:r>
              <a:rPr lang="en-US" sz="2400" b="1" dirty="0">
                <a:latin typeface="Arial" panose="020B0604020202020204" pitchFamily="34" charset="0"/>
                <a:cs typeface="Arial" panose="020B0604020202020204" pitchFamily="34" charset="0"/>
              </a:rPr>
              <a:t>2.Drawing Application</a:t>
            </a:r>
            <a:r>
              <a:rPr lang="en-IN" altLang="en-US" sz="2400" b="1" dirty="0">
                <a:latin typeface="Arial" panose="020B0604020202020204" pitchFamily="34" charset="0"/>
                <a:cs typeface="Arial" panose="020B0604020202020204" pitchFamily="34" charset="0"/>
              </a:rPr>
              <a:t>:</a:t>
            </a:r>
            <a:endParaRPr lang="en-US" sz="2400" b="1" dirty="0">
              <a:latin typeface="Arial" panose="020B0604020202020204" pitchFamily="34" charset="0"/>
              <a:cs typeface="Arial" panose="020B0604020202020204" pitchFamily="34" charset="0"/>
            </a:endParaRPr>
          </a:p>
          <a:p>
            <a:pPr algn="ctr">
              <a:buFont typeface="Wingdings" panose="05000000000000000000" charset="0"/>
              <a:buChar char="§"/>
            </a:pPr>
            <a:endParaRPr lang="en-US" b="1" dirty="0">
              <a:latin typeface="Arial" panose="020B0604020202020204" pitchFamily="34" charset="0"/>
              <a:cs typeface="Arial" panose="020B0604020202020204" pitchFamily="34" charset="0"/>
            </a:endParaRPr>
          </a:p>
          <a:p>
            <a:pPr algn="just">
              <a:buFont typeface="Wingdings" panose="05000000000000000000" charset="0"/>
              <a:buChar char="§"/>
            </a:pPr>
            <a:r>
              <a:rPr lang="en-US" sz="2200" dirty="0">
                <a:latin typeface="Arial" panose="020B0604020202020204" pitchFamily="34" charset="0"/>
                <a:cs typeface="Arial" panose="020B0604020202020204" pitchFamily="34" charset="0"/>
              </a:rPr>
              <a:t>The camera continuously captures real time video stream and once</a:t>
            </a:r>
            <a:r>
              <a:rPr lang="en-IN" sz="2200" dirty="0">
                <a:latin typeface="Arial" panose="020B0604020202020204" pitchFamily="34" charset="0"/>
                <a:cs typeface="Arial" panose="020B0604020202020204" pitchFamily="34" charset="0"/>
              </a:rPr>
              <a:t> the blue coloured cap is detected, contour of the cap is found and its centre is traced as shown in Tracking Window. If the centre is passed through any of the colour buttons that is BLUE, GREEN, RED or YELLOW placed at the top of window, path is drawn with the respective colour.</a:t>
            </a:r>
            <a:endParaRPr lang="en-US" sz="2200" dirty="0">
              <a:latin typeface="Arial" panose="020B0604020202020204" pitchFamily="34" charset="0"/>
              <a:cs typeface="Arial" panose="020B0604020202020204" pitchFamily="34" charset="0"/>
            </a:endParaRPr>
          </a:p>
          <a:p>
            <a:pPr algn="just">
              <a:buFont typeface="Wingdings" panose="05000000000000000000" charset="0"/>
              <a:buChar char="§"/>
            </a:pPr>
            <a:r>
              <a:rPr lang="en-IN" sz="2200" dirty="0">
                <a:latin typeface="Arial" panose="020B0604020202020204" pitchFamily="34" charset="0"/>
                <a:cs typeface="Arial" panose="020B0604020202020204" pitchFamily="34" charset="0"/>
              </a:rPr>
              <a:t>If the centre of the cap is passed through CLEAR ALL button placed at top left of the window ,then the screen is cleared and in the similar way, if the centre of the cap is passed through SAVE button placed at bottom then the Paint window with whatever drawn is saved at particular location.</a:t>
            </a:r>
            <a:endParaRPr lang="en-US" sz="2200" dirty="0">
              <a:latin typeface="Arial" panose="020B0604020202020204" pitchFamily="34" charset="0"/>
              <a:cs typeface="Arial" panose="020B0604020202020204" pitchFamily="34" charset="0"/>
            </a:endParaRPr>
          </a:p>
          <a:p>
            <a:pPr algn="ctr">
              <a:buFont typeface="Wingdings" panose="05000000000000000000" charset="0"/>
              <a:buChar char="§"/>
            </a:pPr>
            <a:endParaRPr lang="en-US" dirty="0">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dirty="0"/>
          </a:p>
        </p:txBody>
      </p:sp>
      <p:sp>
        <p:nvSpPr>
          <p:cNvPr id="7" name="Content Placeholder 6"/>
          <p:cNvSpPr>
            <a:spLocks noGrp="1"/>
          </p:cNvSpPr>
          <p:nvPr>
            <p:ph idx="1"/>
          </p:nvPr>
        </p:nvSpPr>
        <p:spPr/>
        <p:txBody>
          <a:bodyPr/>
          <a:lstStyle/>
          <a:p>
            <a:endParaRPr lang="en-US" dirty="0"/>
          </a:p>
        </p:txBody>
      </p:sp>
      <p:pic>
        <p:nvPicPr>
          <p:cNvPr id="8" name="Picture 7"/>
          <p:cNvPicPr/>
          <p:nvPr/>
        </p:nvPicPr>
        <p:blipFill>
          <a:blip r:embed="rId2"/>
          <a:stretch>
            <a:fillRect/>
          </a:stretch>
        </p:blipFill>
        <p:spPr>
          <a:xfrm>
            <a:off x="558800" y="381635"/>
            <a:ext cx="8128000" cy="4495165"/>
          </a:xfrm>
          <a:prstGeom prst="rect">
            <a:avLst/>
          </a:prstGeom>
          <a:noFill/>
          <a:ln>
            <a:noFill/>
          </a:ln>
        </p:spPr>
      </p:pic>
      <p:sp>
        <p:nvSpPr>
          <p:cNvPr id="2" name="Text Box 1"/>
          <p:cNvSpPr txBox="1"/>
          <p:nvPr/>
        </p:nvSpPr>
        <p:spPr>
          <a:xfrm>
            <a:off x="2438400" y="5236622"/>
            <a:ext cx="4488815" cy="410845"/>
          </a:xfrm>
          <a:prstGeom prst="rect">
            <a:avLst/>
          </a:prstGeom>
          <a:noFill/>
        </p:spPr>
        <p:txBody>
          <a:bodyPr wrap="square" rtlCol="0" anchor="t">
            <a:spAutoFit/>
          </a:bodyPr>
          <a:lstStyle/>
          <a:p>
            <a:pPr algn="ctr"/>
            <a:r>
              <a:rPr lang="en-US" sz="2000" b="1" dirty="0">
                <a:latin typeface="Arial" panose="020B0604020202020204" pitchFamily="34" charset="0"/>
                <a:cs typeface="Arial" panose="020B0604020202020204" pitchFamily="34" charset="0"/>
              </a:rPr>
              <a:t>Drawing Application Result</a:t>
            </a:r>
          </a:p>
        </p:txBody>
      </p:sp>
      <p:cxnSp>
        <p:nvCxnSpPr>
          <p:cNvPr id="5" name="Straight Connector 4">
            <a:extLst>
              <a:ext uri="{FF2B5EF4-FFF2-40B4-BE49-F238E27FC236}">
                <a16:creationId xmlns="" xmlns:a16="http://schemas.microsoft.com/office/drawing/2014/main" id="{8291BE50-F01F-4C89-954B-236C7CFC7B2D}"/>
              </a:ext>
            </a:extLst>
          </p:cNvPr>
          <p:cNvCxnSpPr/>
          <p:nvPr/>
        </p:nvCxnSpPr>
        <p:spPr>
          <a:xfrm>
            <a:off x="558800" y="4876800"/>
            <a:ext cx="40132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85800"/>
            <a:ext cx="8229600" cy="5092891"/>
          </a:xfrm>
        </p:spPr>
        <p:txBody>
          <a:bodyPr>
            <a:normAutofit fontScale="77500" lnSpcReduction="20000"/>
          </a:bodyPr>
          <a:lstStyle/>
          <a:p>
            <a:pPr algn="l">
              <a:buNone/>
            </a:pPr>
            <a:r>
              <a:rPr lang="en-US" sz="2800" b="1" dirty="0">
                <a:latin typeface="Arial" panose="020B0604020202020204" pitchFamily="34" charset="0"/>
                <a:cs typeface="Arial" panose="020B0604020202020204" pitchFamily="34" charset="0"/>
              </a:rPr>
              <a:t>3.GUI</a:t>
            </a:r>
          </a:p>
          <a:p>
            <a:pPr algn="ctr">
              <a:buNone/>
            </a:pPr>
            <a:endParaRPr lang="en-US" b="1" dirty="0">
              <a:latin typeface="Arial" panose="020B0604020202020204" pitchFamily="34" charset="0"/>
              <a:cs typeface="Arial" panose="020B0604020202020204" pitchFamily="34" charset="0"/>
            </a:endParaRPr>
          </a:p>
          <a:p>
            <a:pPr algn="just">
              <a:buFont typeface="Wingdings" panose="05000000000000000000" charset="0"/>
              <a:buChar char="§"/>
            </a:pPr>
            <a:r>
              <a:rPr lang="en-IN" sz="2800" dirty="0">
                <a:latin typeface="Arial" panose="020B0604020202020204" pitchFamily="34" charset="0"/>
                <a:cs typeface="Arial" panose="020B0604020202020204" pitchFamily="34" charset="0"/>
              </a:rPr>
              <a:t>A GUI is designed using Tkinter library which provides binding to the Tk GUI toolkit. It is the standard python interface to the Tk GUI toolkit. </a:t>
            </a:r>
          </a:p>
          <a:p>
            <a:pPr algn="just">
              <a:buFont typeface="Wingdings" panose="05000000000000000000" charset="0"/>
              <a:buChar char="§"/>
            </a:pPr>
            <a:r>
              <a:rPr lang="en-IN" sz="2800" dirty="0">
                <a:latin typeface="Arial" panose="020B0604020202020204" pitchFamily="34" charset="0"/>
                <a:cs typeface="Arial" panose="020B0604020202020204" pitchFamily="34" charset="0"/>
              </a:rPr>
              <a:t>On the interface, buttons are provided to the user to access particular application. </a:t>
            </a:r>
          </a:p>
          <a:p>
            <a:pPr algn="just">
              <a:buFont typeface="Wingdings" panose="05000000000000000000" charset="0"/>
              <a:buChar char="§"/>
            </a:pPr>
            <a:r>
              <a:rPr lang="en-IN" sz="2800" dirty="0">
                <a:latin typeface="Arial" panose="020B0604020202020204" pitchFamily="34" charset="0"/>
                <a:cs typeface="Arial" panose="020B0604020202020204" pitchFamily="34" charset="0"/>
              </a:rPr>
              <a:t>The Gesture Recognition based Image capture application stores the image in desired location on recognition of a particular gesture. </a:t>
            </a:r>
          </a:p>
          <a:p>
            <a:pPr algn="just">
              <a:buFont typeface="Wingdings" panose="05000000000000000000" charset="0"/>
              <a:buChar char="§"/>
            </a:pPr>
            <a:r>
              <a:rPr lang="en-IN" sz="2800" dirty="0">
                <a:latin typeface="Arial" panose="020B0604020202020204" pitchFamily="34" charset="0"/>
                <a:cs typeface="Arial" panose="020B0604020202020204" pitchFamily="34" charset="0"/>
              </a:rPr>
              <a:t>The drawing application also stores the paint window in desired location when the centre of the blue cap passes through save button. A button on the interface allows users to view all these saved images and paint windows. For viewing all these images Image Viewer is developed. This allows users to select the desired image and view it on the Canvas of the Photo Viewer.</a:t>
            </a:r>
            <a:endParaRPr lang="en-US" sz="2800" dirty="0">
              <a:latin typeface="Arial" panose="020B0604020202020204" pitchFamily="34" charset="0"/>
              <a:cs typeface="Arial" panose="020B0604020202020204" pitchFamily="34" charset="0"/>
            </a:endParaRPr>
          </a:p>
          <a:p>
            <a:pPr algn="just">
              <a:buFont typeface="Wingdings" panose="05000000000000000000" pitchFamily="2" charset="2"/>
              <a:buChar char="Ø"/>
            </a:pPr>
            <a:endParaRPr lang="en-US" sz="2800" b="1" dirty="0">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rcRect/>
          <a:stretch>
            <a:fillRect/>
          </a:stretch>
        </p:blipFill>
        <p:spPr bwMode="auto">
          <a:xfrm>
            <a:off x="1317625" y="227330"/>
            <a:ext cx="6198235" cy="3820160"/>
          </a:xfrm>
          <a:prstGeom prst="rect">
            <a:avLst/>
          </a:prstGeom>
          <a:noFill/>
          <a:ln w="9525">
            <a:noFill/>
            <a:miter lim="800000"/>
            <a:headEnd/>
            <a:tailEnd/>
          </a:ln>
        </p:spPr>
      </p:pic>
      <p:sp>
        <p:nvSpPr>
          <p:cNvPr id="100" name="Text Box 99"/>
          <p:cNvSpPr txBox="1"/>
          <p:nvPr/>
        </p:nvSpPr>
        <p:spPr>
          <a:xfrm>
            <a:off x="1734185" y="4119245"/>
            <a:ext cx="5080000" cy="337185"/>
          </a:xfrm>
          <a:prstGeom prst="rect">
            <a:avLst/>
          </a:prstGeom>
          <a:noFill/>
          <a:ln w="9525">
            <a:noFill/>
          </a:ln>
        </p:spPr>
        <p:txBody>
          <a:bodyPr>
            <a:spAutoFit/>
          </a:bodyPr>
          <a:lstStyle/>
          <a:p>
            <a:pPr indent="0" algn="ctr"/>
            <a:r>
              <a:rPr lang="en-US" sz="1600" b="1" dirty="0">
                <a:ln/>
                <a:solidFill>
                  <a:schemeClr val="tx1"/>
                </a:solidFill>
                <a:effectLst/>
                <a:latin typeface="Times New Roman" panose="02020603050405020304" pitchFamily="18" charset="0"/>
                <a:ea typeface="SimSun" panose="02010600030101010101" pitchFamily="2" charset="-122"/>
              </a:rPr>
              <a:t>Graphical User Interface</a:t>
            </a:r>
          </a:p>
        </p:txBody>
      </p:sp>
      <p:sp>
        <p:nvSpPr>
          <p:cNvPr id="5" name="Text Box 4"/>
          <p:cNvSpPr txBox="1"/>
          <p:nvPr/>
        </p:nvSpPr>
        <p:spPr>
          <a:xfrm>
            <a:off x="1318260" y="4528185"/>
            <a:ext cx="6197600" cy="1322070"/>
          </a:xfrm>
          <a:prstGeom prst="rect">
            <a:avLst/>
          </a:prstGeom>
          <a:noFill/>
        </p:spPr>
        <p:txBody>
          <a:bodyPr wrap="square" rtlCol="0" anchor="t">
            <a:spAutoFit/>
          </a:bodyPr>
          <a:lstStyle/>
          <a:p>
            <a:pPr algn="just"/>
            <a:r>
              <a:rPr lang="en-US" sz="2000" dirty="0">
                <a:latin typeface="Arial" panose="020B0604020202020204" pitchFamily="34" charset="0"/>
                <a:cs typeface="Arial" panose="020B0604020202020204" pitchFamily="34" charset="0"/>
              </a:rPr>
              <a:t>Graphical User Interface (GUI) provided to user for interacting with the application. The user is provided different tabs to start a particular application or view the saved images or drawings. </a:t>
            </a:r>
          </a:p>
        </p:txBody>
      </p:sp>
    </p:spTree>
  </p:cSld>
  <p:clrMapOvr>
    <a:masterClrMapping/>
  </p:clrMapOvr>
  <p:transition spd="slow">
    <p:push dir="u"/>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rcRect/>
          <a:stretch>
            <a:fillRect/>
          </a:stretch>
        </p:blipFill>
        <p:spPr bwMode="auto">
          <a:xfrm>
            <a:off x="1126490" y="316230"/>
            <a:ext cx="3527449" cy="3962400"/>
          </a:xfrm>
          <a:prstGeom prst="rect">
            <a:avLst/>
          </a:prstGeom>
          <a:noFill/>
          <a:ln w="9525">
            <a:noFill/>
            <a:miter lim="800000"/>
            <a:headEnd/>
            <a:tailEnd/>
          </a:ln>
        </p:spPr>
      </p:pic>
      <p:pic>
        <p:nvPicPr>
          <p:cNvPr id="5" name="Picture 4"/>
          <p:cNvPicPr/>
          <p:nvPr/>
        </p:nvPicPr>
        <p:blipFill>
          <a:blip r:embed="rId3"/>
          <a:srcRect/>
          <a:stretch>
            <a:fillRect/>
          </a:stretch>
        </p:blipFill>
        <p:spPr bwMode="auto">
          <a:xfrm>
            <a:off x="4770755" y="316230"/>
            <a:ext cx="3657600" cy="3962400"/>
          </a:xfrm>
          <a:prstGeom prst="rect">
            <a:avLst/>
          </a:prstGeom>
          <a:noFill/>
          <a:ln w="9525">
            <a:noFill/>
            <a:miter lim="800000"/>
            <a:headEnd/>
            <a:tailEnd/>
          </a:ln>
        </p:spPr>
      </p:pic>
      <p:sp>
        <p:nvSpPr>
          <p:cNvPr id="6" name="Text Box 5"/>
          <p:cNvSpPr txBox="1"/>
          <p:nvPr/>
        </p:nvSpPr>
        <p:spPr>
          <a:xfrm>
            <a:off x="1126490" y="4839335"/>
            <a:ext cx="7301865" cy="1322070"/>
          </a:xfrm>
          <a:prstGeom prst="rect">
            <a:avLst/>
          </a:prstGeom>
          <a:noFill/>
        </p:spPr>
        <p:txBody>
          <a:bodyPr wrap="square" rtlCol="0" anchor="t">
            <a:spAutoFit/>
          </a:bodyPr>
          <a:lstStyle/>
          <a:p>
            <a:pPr algn="just"/>
            <a:r>
              <a:rPr lang="en-IN" altLang="en-US" sz="2000" dirty="0">
                <a:latin typeface="Arial" panose="020B0604020202020204" pitchFamily="34" charset="0"/>
                <a:cs typeface="Arial" panose="020B0604020202020204" pitchFamily="34" charset="0"/>
              </a:rPr>
              <a:t>Above images </a:t>
            </a:r>
            <a:r>
              <a:rPr lang="en-US" sz="2000" dirty="0">
                <a:latin typeface="Arial" panose="020B0604020202020204" pitchFamily="34" charset="0"/>
                <a:cs typeface="Arial" panose="020B0604020202020204" pitchFamily="34" charset="0"/>
              </a:rPr>
              <a:t>are of the Image Viewer which can be accessed by clicking on the Photo Studio tab on GUI. Image viewer is used to view the saved images and drawings from the applications.</a:t>
            </a:r>
          </a:p>
        </p:txBody>
      </p:sp>
      <p:sp>
        <p:nvSpPr>
          <p:cNvPr id="7" name="Text Box 6"/>
          <p:cNvSpPr txBox="1"/>
          <p:nvPr/>
        </p:nvSpPr>
        <p:spPr>
          <a:xfrm>
            <a:off x="1127125" y="4278630"/>
            <a:ext cx="7300595" cy="368300"/>
          </a:xfrm>
          <a:prstGeom prst="rect">
            <a:avLst/>
          </a:prstGeom>
          <a:noFill/>
        </p:spPr>
        <p:txBody>
          <a:bodyPr wrap="square" rtlCol="0" anchor="t">
            <a:spAutoFit/>
          </a:bodyPr>
          <a:lstStyle/>
          <a:p>
            <a:r>
              <a:rPr lang="en-IN" altLang="en-US" dirty="0"/>
              <a:t>            </a:t>
            </a:r>
            <a:r>
              <a:rPr lang="en-IN" altLang="en-US" b="1" dirty="0"/>
              <a:t> </a:t>
            </a:r>
            <a:r>
              <a:rPr lang="en-US" b="1" dirty="0"/>
              <a:t>Image Viewer                        Open New Image Tab</a:t>
            </a:r>
          </a:p>
        </p:txBody>
      </p:sp>
    </p:spTree>
  </p:cSld>
  <p:clrMapOvr>
    <a:masterClrMapping/>
  </p:clrMapOvr>
  <p:transition spd="slow">
    <p:push dir="u"/>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buFont typeface="Wingdings" panose="05000000000000000000" pitchFamily="2" charset="2"/>
              <a:buChar char="§"/>
            </a:pPr>
            <a:r>
              <a:rPr lang="en-US" sz="2400" dirty="0">
                <a:latin typeface="Arial" pitchFamily="34" charset="0"/>
                <a:cs typeface="Arial" pitchFamily="34" charset="0"/>
              </a:rPr>
              <a:t>The system is affected by Background noise</a:t>
            </a:r>
            <a:r>
              <a:rPr lang="en-US" sz="2400" dirty="0" smtClean="0">
                <a:latin typeface="Arial" pitchFamily="34" charset="0"/>
                <a:cs typeface="Arial" pitchFamily="34" charset="0"/>
              </a:rPr>
              <a:t>. Therefore</a:t>
            </a:r>
            <a:r>
              <a:rPr lang="en-US" sz="2400" dirty="0">
                <a:latin typeface="Arial" pitchFamily="34" charset="0"/>
                <a:cs typeface="Arial" pitchFamily="34" charset="0"/>
              </a:rPr>
              <a:t>, Gaussian filter needs to be applied for smoothening. Also background should be noise free. </a:t>
            </a:r>
          </a:p>
          <a:p>
            <a:pPr algn="just">
              <a:buFont typeface="Wingdings" panose="05000000000000000000" pitchFamily="2" charset="2"/>
              <a:buChar char="§"/>
            </a:pPr>
            <a:endParaRPr lang="en-US" sz="2400" dirty="0">
              <a:latin typeface="Arial" pitchFamily="34" charset="0"/>
              <a:cs typeface="Arial" pitchFamily="34" charset="0"/>
            </a:endParaRPr>
          </a:p>
          <a:p>
            <a:pPr algn="just">
              <a:buFont typeface="Wingdings" panose="05000000000000000000" pitchFamily="2" charset="2"/>
              <a:buChar char="§"/>
            </a:pPr>
            <a:r>
              <a:rPr lang="en-US" sz="2400" dirty="0">
                <a:latin typeface="Arial" pitchFamily="34" charset="0"/>
                <a:cs typeface="Arial" pitchFamily="34" charset="0"/>
              </a:rPr>
              <a:t>The Hand gestures by user are recognized based on convexity defects, therefore gestures need to be  proper.</a:t>
            </a:r>
          </a:p>
          <a:p>
            <a:pPr algn="just">
              <a:buFont typeface="Wingdings" panose="05000000000000000000" pitchFamily="2" charset="2"/>
              <a:buChar char="§"/>
            </a:pPr>
            <a:endParaRPr lang="en-US" sz="2400" dirty="0">
              <a:latin typeface="Arial" pitchFamily="34" charset="0"/>
              <a:cs typeface="Arial" pitchFamily="34" charset="0"/>
            </a:endParaRPr>
          </a:p>
          <a:p>
            <a:pPr algn="just">
              <a:buFont typeface="Wingdings" panose="05000000000000000000" pitchFamily="2" charset="2"/>
              <a:buChar char="§"/>
            </a:pPr>
            <a:r>
              <a:rPr lang="en-US" sz="2400" dirty="0">
                <a:latin typeface="Arial" pitchFamily="34" charset="0"/>
                <a:cs typeface="Arial" pitchFamily="34" charset="0"/>
              </a:rPr>
              <a:t>For Drawing Application, the blue colored thing which we are using for drawing purpose should be with maximum contour area in the frame.</a:t>
            </a:r>
          </a:p>
          <a:p>
            <a:pPr algn="just">
              <a:buFont typeface="Wingdings" panose="05000000000000000000" pitchFamily="2" charset="2"/>
              <a:buChar char="§"/>
            </a:pPr>
            <a:endParaRPr lang="en-US" sz="2400" dirty="0">
              <a:latin typeface="Arial" pitchFamily="34" charset="0"/>
              <a:cs typeface="Arial" pitchFamily="34" charset="0"/>
            </a:endParaRPr>
          </a:p>
        </p:txBody>
      </p:sp>
      <p:sp>
        <p:nvSpPr>
          <p:cNvPr id="3" name="Title 2"/>
          <p:cNvSpPr>
            <a:spLocks noGrp="1"/>
          </p:cNvSpPr>
          <p:nvPr>
            <p:ph type="title"/>
          </p:nvPr>
        </p:nvSpPr>
        <p:spPr>
          <a:xfrm>
            <a:off x="457200" y="457200"/>
            <a:ext cx="8229600" cy="1143000"/>
          </a:xfrm>
        </p:spPr>
        <p:txBody>
          <a:bodyPr/>
          <a:lstStyle/>
          <a:p>
            <a:pPr algn="ctr"/>
            <a:r>
              <a:rPr lang="en-US" dirty="0">
                <a:solidFill>
                  <a:schemeClr val="tx1"/>
                </a:solidFill>
                <a:effectLst/>
                <a:latin typeface="Arial" pitchFamily="34" charset="0"/>
                <a:cs typeface="Arial" pitchFamily="34" charset="0"/>
              </a:rPr>
              <a:t>System</a:t>
            </a:r>
            <a:r>
              <a:rPr lang="en-US" dirty="0">
                <a:solidFill>
                  <a:schemeClr val="tx1"/>
                </a:solidFill>
                <a:latin typeface="Arial" pitchFamily="34" charset="0"/>
                <a:cs typeface="Arial" pitchFamily="34" charset="0"/>
              </a:rPr>
              <a:t> </a:t>
            </a:r>
            <a:r>
              <a:rPr lang="en-US" dirty="0">
                <a:solidFill>
                  <a:schemeClr val="tx1"/>
                </a:solidFill>
                <a:effectLst/>
                <a:latin typeface="Arial" pitchFamily="34" charset="0"/>
                <a:cs typeface="Arial" pitchFamily="34" charset="0"/>
              </a:rPr>
              <a:t>Complexities</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92430" y="1092073"/>
            <a:ext cx="8229600" cy="4995672"/>
          </a:xfrm>
        </p:spPr>
        <p:txBody>
          <a:bodyPr>
            <a:noAutofit/>
          </a:bodyPr>
          <a:lstStyle/>
          <a:p>
            <a:pPr algn="just">
              <a:buFont typeface="Wingdings" panose="05000000000000000000" charset="0"/>
              <a:buChar char="§"/>
            </a:pPr>
            <a:r>
              <a:rPr lang="en-US" sz="2200" dirty="0">
                <a:latin typeface="Arial" panose="020B0604020202020204" pitchFamily="34" charset="0"/>
                <a:cs typeface="Arial" panose="020B0604020202020204" pitchFamily="34" charset="0"/>
              </a:rPr>
              <a:t>This project implements hand gesture recognition to capture a particular image and store at desired location for further processing. The prototype implements this application, allowing us to interact with this information via natural hand gestures. This system provides accuracy of 90%.</a:t>
            </a:r>
          </a:p>
          <a:p>
            <a:pPr algn="just">
              <a:buFont typeface="Wingdings" panose="05000000000000000000" charset="0"/>
              <a:buChar char="§"/>
            </a:pPr>
            <a:r>
              <a:rPr lang="en-US" sz="2200" dirty="0">
                <a:latin typeface="Arial" panose="020B0604020202020204" pitchFamily="34" charset="0"/>
                <a:cs typeface="Arial" panose="020B0604020202020204" pitchFamily="34" charset="0"/>
              </a:rPr>
              <a:t>A Drawing application is also developed which is based on color tracking, computer vision and image processing. The camera monitors the background and the path of blue cap is traced. In this way, system allows us to draw remotely via colored tracking.</a:t>
            </a:r>
          </a:p>
          <a:p>
            <a:pPr algn="just">
              <a:buFont typeface="Wingdings" panose="05000000000000000000" charset="0"/>
              <a:buChar char="§"/>
            </a:pPr>
            <a:r>
              <a:rPr lang="en-US" sz="2200" dirty="0">
                <a:latin typeface="Arial" panose="020B0604020202020204" pitchFamily="34" charset="0"/>
                <a:cs typeface="Arial" panose="020B0604020202020204" pitchFamily="34" charset="0"/>
              </a:rPr>
              <a:t>Many more applications can be developed based on the concept of Sixth Sense like calling application, projected clock. Functionalities like zoom in and zoom out can also be developed as a future scope.</a:t>
            </a:r>
          </a:p>
          <a:p>
            <a:pPr algn="just">
              <a:buFont typeface="Wingdings" panose="05000000000000000000" charset="0"/>
              <a:buChar char="§"/>
            </a:pPr>
            <a:r>
              <a:rPr lang="en-US" sz="2200" b="1" dirty="0">
                <a:latin typeface="Arial" panose="020B0604020202020204" pitchFamily="34" charset="0"/>
                <a:cs typeface="Arial" panose="020B0604020202020204" pitchFamily="34" charset="0"/>
              </a:rPr>
              <a:t> </a:t>
            </a:r>
            <a:endParaRPr lang="en-US" sz="2200" dirty="0">
              <a:latin typeface="Arial" panose="020B0604020202020204" pitchFamily="34" charset="0"/>
              <a:cs typeface="Arial" panose="020B0604020202020204" pitchFamily="34" charset="0"/>
            </a:endParaRPr>
          </a:p>
          <a:p>
            <a:pPr algn="just">
              <a:buFont typeface="Wingdings" panose="05000000000000000000" charset="0"/>
              <a:buChar char="§"/>
            </a:pPr>
            <a:endParaRPr lang="en-US" sz="2200" dirty="0"/>
          </a:p>
        </p:txBody>
      </p:sp>
      <p:sp>
        <p:nvSpPr>
          <p:cNvPr id="4" name="TextBox 3">
            <a:extLst>
              <a:ext uri="{FF2B5EF4-FFF2-40B4-BE49-F238E27FC236}">
                <a16:creationId xmlns="" xmlns:a16="http://schemas.microsoft.com/office/drawing/2014/main" id="{6A8BF8AA-4736-4FA5-90D2-EF489DEC563D}"/>
              </a:ext>
            </a:extLst>
          </p:cNvPr>
          <p:cNvSpPr txBox="1"/>
          <p:nvPr/>
        </p:nvSpPr>
        <p:spPr>
          <a:xfrm>
            <a:off x="2514600" y="152400"/>
            <a:ext cx="4343400" cy="707886"/>
          </a:xfrm>
          <a:prstGeom prst="rect">
            <a:avLst/>
          </a:prstGeom>
          <a:noFill/>
        </p:spPr>
        <p:txBody>
          <a:bodyPr wrap="square" rtlCol="0">
            <a:spAutoFit/>
          </a:bodyPr>
          <a:lstStyle/>
          <a:p>
            <a:pPr algn="ctr"/>
            <a:r>
              <a:rPr lang="en-IN" sz="4000" b="1" dirty="0">
                <a:latin typeface="Arial" panose="020B0604020202020204" pitchFamily="34" charset="0"/>
                <a:cs typeface="Arial" panose="020B0604020202020204" pitchFamily="34" charset="0"/>
              </a:rPr>
              <a:t>Conclusion</a:t>
            </a:r>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35585" y="843915"/>
            <a:ext cx="8672195" cy="5633085"/>
          </a:xfrm>
        </p:spPr>
        <p:txBody>
          <a:bodyPr>
            <a:noAutofit/>
          </a:bodyPr>
          <a:lstStyle/>
          <a:p>
            <a:pPr marL="109855" indent="0" algn="just">
              <a:buNone/>
            </a:pPr>
            <a:r>
              <a:rPr lang="en-US" sz="1600" dirty="0">
                <a:latin typeface="Arial" pitchFamily="34" charset="0"/>
                <a:cs typeface="Arial" pitchFamily="34" charset="0"/>
              </a:rPr>
              <a:t>1]Sixth Sense Technology S.Pradeep Kumar,  Asst.Prof, Rajalakshmi Institute of Technology, Chennai O.Pandithurai, Phd (scholar) Anna university of Technology Comibatore, India.</a:t>
            </a:r>
          </a:p>
          <a:p>
            <a:pPr marL="109855" indent="0" algn="just">
              <a:buNone/>
            </a:pPr>
            <a:r>
              <a:rPr lang="en-US" sz="1600" dirty="0">
                <a:latin typeface="Arial" pitchFamily="34" charset="0"/>
                <a:cs typeface="Arial" pitchFamily="34" charset="0"/>
              </a:rPr>
              <a:t>2]Comparative Study for Vision Based and Data Based Hand Gesture Recognition Technique OinamRobita Chanu1, Anushree Pillai2, Spandan Sinha3, Piyanka Das4 Department of Biomedical Engineering SRM University, Kattankulathur, Chennai, India</a:t>
            </a:r>
          </a:p>
          <a:p>
            <a:pPr marL="109855" indent="0" algn="just">
              <a:buNone/>
            </a:pPr>
            <a:r>
              <a:rPr lang="en-US" sz="1600" dirty="0">
                <a:latin typeface="Arial" pitchFamily="34" charset="0"/>
                <a:cs typeface="Arial" pitchFamily="34" charset="0"/>
              </a:rPr>
              <a:t>3] A Hidden Markov Model based Dynamic Hand Gesture Recognition System using OpenCV Rajat Shrivastava Dept. of Electronics and Communication Engineering</a:t>
            </a:r>
          </a:p>
          <a:p>
            <a:pPr marL="109855" indent="0" algn="just">
              <a:buNone/>
            </a:pPr>
            <a:r>
              <a:rPr lang="en-US" sz="1600" dirty="0">
                <a:latin typeface="Arial" pitchFamily="34" charset="0"/>
                <a:cs typeface="Arial" pitchFamily="34" charset="0"/>
              </a:rPr>
              <a:t>4] Dominant Points based Hand Finger Counting for Recognition under Skin Color Extraction in Hand Gesture Control System ZhenYu Meng Jeng-Shyang Pan, Kuo-Kun Tseng and WeiMin Zheng Intelligence Control Research Center, Guangzhou Institute of Advanced Technology Chinese Academy of Sciences, Guangzhou, China Computer Science Department, Shenzhen Graduate School Harbin Institute of Technology, Shenzhen, </a:t>
            </a:r>
            <a:r>
              <a:rPr lang="en-US" sz="1600" dirty="0" smtClean="0">
                <a:latin typeface="Arial" pitchFamily="34" charset="0"/>
                <a:cs typeface="Arial" pitchFamily="34" charset="0"/>
              </a:rPr>
              <a:t>China</a:t>
            </a:r>
          </a:p>
          <a:p>
            <a:pPr marL="109855" indent="0" algn="just">
              <a:buNone/>
            </a:pPr>
            <a:r>
              <a:rPr lang="en-US" sz="1600" dirty="0" smtClean="0">
                <a:latin typeface="Arial" pitchFamily="34" charset="0"/>
                <a:cs typeface="Arial" pitchFamily="34" charset="0"/>
              </a:rPr>
              <a:t>5] Real-Time Hand Gesture Recognition With EMG Using Machine Learning</a:t>
            </a:r>
          </a:p>
          <a:p>
            <a:pPr marL="109855" indent="0" algn="just">
              <a:buNone/>
            </a:pPr>
            <a:r>
              <a:rPr lang="en-US" sz="1600" dirty="0" smtClean="0">
                <a:latin typeface="Arial" pitchFamily="34" charset="0"/>
                <a:cs typeface="Arial" pitchFamily="34" charset="0"/>
              </a:rPr>
              <a:t>Andr´es G. Jaramillo and Marco E. </a:t>
            </a:r>
            <a:r>
              <a:rPr lang="en-US" sz="1600" dirty="0" err="1" smtClean="0">
                <a:latin typeface="Arial" pitchFamily="34" charset="0"/>
                <a:cs typeface="Arial" pitchFamily="34" charset="0"/>
              </a:rPr>
              <a:t>Benalc´azar</a:t>
            </a:r>
            <a:r>
              <a:rPr lang="en-US" sz="1600" dirty="0" smtClean="0">
                <a:latin typeface="Arial" pitchFamily="34" charset="0"/>
                <a:cs typeface="Arial" pitchFamily="34" charset="0"/>
              </a:rPr>
              <a:t> </a:t>
            </a:r>
            <a:r>
              <a:rPr lang="en-US" sz="1600" dirty="0" err="1" smtClean="0">
                <a:latin typeface="Arial" pitchFamily="34" charset="0"/>
                <a:cs typeface="Arial" pitchFamily="34" charset="0"/>
              </a:rPr>
              <a:t>Departamento</a:t>
            </a:r>
            <a:r>
              <a:rPr lang="en-US" sz="1600" dirty="0" smtClean="0">
                <a:latin typeface="Arial" pitchFamily="34" charset="0"/>
                <a:cs typeface="Arial" pitchFamily="34" charset="0"/>
              </a:rPr>
              <a:t> de </a:t>
            </a:r>
            <a:r>
              <a:rPr lang="en-US" sz="1600" dirty="0" err="1" smtClean="0">
                <a:latin typeface="Arial" pitchFamily="34" charset="0"/>
                <a:cs typeface="Arial" pitchFamily="34" charset="0"/>
              </a:rPr>
              <a:t>Inform´atica</a:t>
            </a:r>
            <a:r>
              <a:rPr lang="en-US" sz="1600" dirty="0" smtClean="0">
                <a:latin typeface="Arial" pitchFamily="34" charset="0"/>
                <a:cs typeface="Arial" pitchFamily="34" charset="0"/>
              </a:rPr>
              <a:t> y </a:t>
            </a:r>
            <a:r>
              <a:rPr lang="en-US" sz="1600" dirty="0" err="1" smtClean="0">
                <a:latin typeface="Arial" pitchFamily="34" charset="0"/>
                <a:cs typeface="Arial" pitchFamily="34" charset="0"/>
              </a:rPr>
              <a:t>Ciencias</a:t>
            </a:r>
            <a:r>
              <a:rPr lang="en-US" sz="1600" dirty="0" smtClean="0">
                <a:latin typeface="Arial" pitchFamily="34" charset="0"/>
                <a:cs typeface="Arial" pitchFamily="34" charset="0"/>
              </a:rPr>
              <a:t> de la Computaci´on </a:t>
            </a:r>
            <a:r>
              <a:rPr lang="en-US" sz="1600" dirty="0" err="1" smtClean="0">
                <a:latin typeface="Arial" pitchFamily="34" charset="0"/>
                <a:cs typeface="Arial" pitchFamily="34" charset="0"/>
              </a:rPr>
              <a:t>Escuela</a:t>
            </a:r>
            <a:r>
              <a:rPr lang="en-US" sz="1600" dirty="0" smtClean="0">
                <a:latin typeface="Arial" pitchFamily="34" charset="0"/>
                <a:cs typeface="Arial" pitchFamily="34" charset="0"/>
              </a:rPr>
              <a:t> </a:t>
            </a:r>
            <a:r>
              <a:rPr lang="en-US" sz="1600" dirty="0" err="1" smtClean="0">
                <a:latin typeface="Arial" pitchFamily="34" charset="0"/>
                <a:cs typeface="Arial" pitchFamily="34" charset="0"/>
              </a:rPr>
              <a:t>Polit´ecnica</a:t>
            </a:r>
            <a:r>
              <a:rPr lang="en-US" sz="1600" dirty="0" smtClean="0">
                <a:latin typeface="Arial" pitchFamily="34" charset="0"/>
                <a:cs typeface="Arial" pitchFamily="34" charset="0"/>
              </a:rPr>
              <a:t> </a:t>
            </a:r>
            <a:r>
              <a:rPr lang="en-US" sz="1600" dirty="0" err="1" smtClean="0">
                <a:latin typeface="Arial" pitchFamily="34" charset="0"/>
                <a:cs typeface="Arial" pitchFamily="34" charset="0"/>
              </a:rPr>
              <a:t>Nacional</a:t>
            </a:r>
            <a:r>
              <a:rPr lang="en-US" sz="1600" dirty="0" smtClean="0">
                <a:latin typeface="Arial" pitchFamily="34" charset="0"/>
                <a:cs typeface="Arial" pitchFamily="34" charset="0"/>
              </a:rPr>
              <a:t>, EPN Quito, Ecuador </a:t>
            </a:r>
          </a:p>
          <a:p>
            <a:pPr marL="109855" indent="0" algn="just">
              <a:buNone/>
            </a:pPr>
            <a:r>
              <a:rPr lang="en-US" sz="1600" dirty="0" smtClean="0">
                <a:latin typeface="Arial" pitchFamily="34" charset="0"/>
                <a:cs typeface="Arial" pitchFamily="34" charset="0"/>
              </a:rPr>
              <a:t>6]Hand Gesture Recognition by </a:t>
            </a:r>
            <a:r>
              <a:rPr lang="en-US" sz="1600" dirty="0" err="1" smtClean="0">
                <a:latin typeface="Arial" pitchFamily="34" charset="0"/>
                <a:cs typeface="Arial" pitchFamily="34" charset="0"/>
              </a:rPr>
              <a:t>Daubechies</a:t>
            </a:r>
            <a:r>
              <a:rPr lang="en-US" sz="1600" dirty="0" smtClean="0">
                <a:latin typeface="Arial" pitchFamily="34" charset="0"/>
                <a:cs typeface="Arial" pitchFamily="34" charset="0"/>
              </a:rPr>
              <a:t> Wavelet Transformation Dr. </a:t>
            </a:r>
            <a:r>
              <a:rPr lang="en-US" sz="1600" dirty="0" err="1" smtClean="0">
                <a:latin typeface="Arial" pitchFamily="34" charset="0"/>
                <a:cs typeface="Arial" pitchFamily="34" charset="0"/>
              </a:rPr>
              <a:t>Tanuja</a:t>
            </a:r>
            <a:r>
              <a:rPr lang="en-US" sz="1600" dirty="0" smtClean="0">
                <a:latin typeface="Arial" pitchFamily="34" charset="0"/>
                <a:cs typeface="Arial" pitchFamily="34" charset="0"/>
              </a:rPr>
              <a:t> K. </a:t>
            </a:r>
            <a:r>
              <a:rPr lang="en-US" sz="1600" dirty="0" err="1" smtClean="0">
                <a:latin typeface="Arial" pitchFamily="34" charset="0"/>
                <a:cs typeface="Arial" pitchFamily="34" charset="0"/>
              </a:rPr>
              <a:t>Sarode</a:t>
            </a:r>
            <a:r>
              <a:rPr lang="en-US" sz="1600" dirty="0" smtClean="0">
                <a:latin typeface="Arial" pitchFamily="34" charset="0"/>
                <a:cs typeface="Arial" pitchFamily="34" charset="0"/>
              </a:rPr>
              <a:t>*, </a:t>
            </a:r>
            <a:r>
              <a:rPr lang="en-US" sz="1600" dirty="0" err="1" smtClean="0">
                <a:latin typeface="Arial" pitchFamily="34" charset="0"/>
                <a:cs typeface="Arial" pitchFamily="34" charset="0"/>
              </a:rPr>
              <a:t>Priyanka</a:t>
            </a:r>
            <a:r>
              <a:rPr lang="en-US" sz="1600" dirty="0" smtClean="0">
                <a:latin typeface="Arial" pitchFamily="34" charset="0"/>
                <a:cs typeface="Arial" pitchFamily="34" charset="0"/>
              </a:rPr>
              <a:t> </a:t>
            </a:r>
            <a:r>
              <a:rPr lang="en-US" sz="1600" dirty="0" err="1" smtClean="0">
                <a:latin typeface="Arial" pitchFamily="34" charset="0"/>
                <a:cs typeface="Arial" pitchFamily="34" charset="0"/>
              </a:rPr>
              <a:t>Agrawal</a:t>
            </a:r>
            <a:r>
              <a:rPr lang="en-US" sz="1600" dirty="0" smtClean="0">
                <a:latin typeface="Arial" pitchFamily="34" charset="0"/>
                <a:cs typeface="Arial" pitchFamily="34" charset="0"/>
              </a:rPr>
              <a:t>*, </a:t>
            </a:r>
            <a:r>
              <a:rPr lang="en-US" sz="1600" dirty="0" err="1" smtClean="0">
                <a:latin typeface="Arial" pitchFamily="34" charset="0"/>
                <a:cs typeface="Arial" pitchFamily="34" charset="0"/>
              </a:rPr>
              <a:t>Gaurav</a:t>
            </a:r>
            <a:r>
              <a:rPr lang="en-US" sz="1600" dirty="0" smtClean="0">
                <a:latin typeface="Arial" pitchFamily="34" charset="0"/>
                <a:cs typeface="Arial" pitchFamily="34" charset="0"/>
              </a:rPr>
              <a:t> </a:t>
            </a:r>
            <a:r>
              <a:rPr lang="en-US" sz="1600" dirty="0" err="1" smtClean="0">
                <a:latin typeface="Arial" pitchFamily="34" charset="0"/>
                <a:cs typeface="Arial" pitchFamily="34" charset="0"/>
              </a:rPr>
              <a:t>Deshpande</a:t>
            </a:r>
            <a:r>
              <a:rPr lang="en-US" sz="1600" dirty="0" smtClean="0">
                <a:latin typeface="Arial" pitchFamily="34" charset="0"/>
                <a:cs typeface="Arial" pitchFamily="34" charset="0"/>
              </a:rPr>
              <a:t>*, </a:t>
            </a:r>
            <a:r>
              <a:rPr lang="en-US" sz="1600" dirty="0" err="1" smtClean="0">
                <a:latin typeface="Arial" pitchFamily="34" charset="0"/>
                <a:cs typeface="Arial" pitchFamily="34" charset="0"/>
              </a:rPr>
              <a:t>Anjali</a:t>
            </a:r>
            <a:r>
              <a:rPr lang="en-US" sz="1600" dirty="0" smtClean="0">
                <a:latin typeface="Arial" pitchFamily="34" charset="0"/>
                <a:cs typeface="Arial" pitchFamily="34" charset="0"/>
              </a:rPr>
              <a:t> </a:t>
            </a:r>
            <a:r>
              <a:rPr lang="en-US" sz="1600" dirty="0" err="1" smtClean="0">
                <a:latin typeface="Arial" pitchFamily="34" charset="0"/>
                <a:cs typeface="Arial" pitchFamily="34" charset="0"/>
              </a:rPr>
              <a:t>Jogeshwar</a:t>
            </a:r>
            <a:r>
              <a:rPr lang="en-US" sz="1600" dirty="0" smtClean="0">
                <a:latin typeface="Arial" pitchFamily="34" charset="0"/>
                <a:cs typeface="Arial" pitchFamily="34" charset="0"/>
              </a:rPr>
              <a:t>*</a:t>
            </a:r>
            <a:endParaRPr lang="en-US" sz="1600" dirty="0">
              <a:latin typeface="Arial" pitchFamily="34" charset="0"/>
              <a:cs typeface="Arial" pitchFamily="34" charset="0"/>
            </a:endParaRPr>
          </a:p>
          <a:p>
            <a:pPr marL="109855" indent="0" algn="just">
              <a:buNone/>
            </a:pPr>
            <a:r>
              <a:rPr lang="en-US" sz="1600" dirty="0" smtClean="0">
                <a:latin typeface="Arial" pitchFamily="34" charset="0"/>
                <a:cs typeface="Arial" pitchFamily="34" charset="0"/>
              </a:rPr>
              <a:t>7]Real </a:t>
            </a:r>
            <a:r>
              <a:rPr lang="en-US" sz="1600" dirty="0">
                <a:latin typeface="Arial" pitchFamily="34" charset="0"/>
                <a:cs typeface="Arial" pitchFamily="34" charset="0"/>
              </a:rPr>
              <a:t>Time Finger Counting and Virtual Drawing Using Color Detection and Shape Recognition Dr. GhousBukshNarejo Department of Electronic Engineering NED University of Engineering and Technology Karachi, Pakistan Shahyan Pervez Bharucha Department of Electronic Engineering NED University of Engineering and Technology Karachi, Pakistan</a:t>
            </a:r>
            <a:endParaRPr lang="en-US" sz="1700" dirty="0">
              <a:latin typeface="Arial" pitchFamily="34" charset="0"/>
              <a:cs typeface="Arial" pitchFamily="34" charset="0"/>
            </a:endParaRPr>
          </a:p>
        </p:txBody>
      </p:sp>
      <p:sp>
        <p:nvSpPr>
          <p:cNvPr id="4" name="TextBox 3">
            <a:extLst>
              <a:ext uri="{FF2B5EF4-FFF2-40B4-BE49-F238E27FC236}">
                <a16:creationId xmlns="" xmlns:a16="http://schemas.microsoft.com/office/drawing/2014/main" id="{88C7161C-E4F8-4A9B-98F8-13A5D68F79DB}"/>
              </a:ext>
            </a:extLst>
          </p:cNvPr>
          <p:cNvSpPr txBox="1"/>
          <p:nvPr/>
        </p:nvSpPr>
        <p:spPr>
          <a:xfrm>
            <a:off x="3048000" y="136029"/>
            <a:ext cx="3352800" cy="707886"/>
          </a:xfrm>
          <a:prstGeom prst="rect">
            <a:avLst/>
          </a:prstGeom>
          <a:noFill/>
        </p:spPr>
        <p:txBody>
          <a:bodyPr wrap="square" rtlCol="0">
            <a:spAutoFit/>
          </a:bodyPr>
          <a:lstStyle/>
          <a:p>
            <a:pPr algn="ctr"/>
            <a:r>
              <a:rPr lang="en-IN" sz="4000" b="1" dirty="0">
                <a:latin typeface="Arial" panose="020B0604020202020204" pitchFamily="34" charset="0"/>
                <a:cs typeface="Arial" panose="020B0604020202020204" pitchFamily="34" charset="0"/>
              </a:rPr>
              <a:t>References</a:t>
            </a:r>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Concourse</Template>
  <TotalTime>399</TotalTime>
  <Words>1700</Words>
  <Application>Microsoft Office PowerPoint</Application>
  <PresentationFormat>On-screen Show (4:3)</PresentationFormat>
  <Paragraphs>127</Paragraphs>
  <Slides>27</Slides>
  <Notes>1</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Concourse</vt:lpstr>
      <vt:lpstr>SIXTH SENSE DEVICE </vt:lpstr>
      <vt:lpstr>Slide 2</vt:lpstr>
      <vt:lpstr>Slide 3</vt:lpstr>
      <vt:lpstr>Slide 4</vt:lpstr>
      <vt:lpstr>Motivation</vt:lpstr>
      <vt:lpstr>Slide 6</vt:lpstr>
      <vt:lpstr>Slide 7</vt:lpstr>
      <vt:lpstr>Slide 8</vt:lpstr>
      <vt:lpstr>SIXTH SENSE DEVICE BLOCK DIAGRAM</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System Complexities</vt:lpstr>
      <vt:lpstr>Slide 26</vt:lpstr>
      <vt:lpstr>Slide 27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Huddar</dc:creator>
  <cp:lastModifiedBy>Huddar</cp:lastModifiedBy>
  <cp:revision>26</cp:revision>
  <dcterms:created xsi:type="dcterms:W3CDTF">2020-06-06T18:04:00Z</dcterms:created>
  <dcterms:modified xsi:type="dcterms:W3CDTF">2020-06-11T13:48:37Z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1033-11.2.0.9281</vt:lpwstr>
  </property>
</Properties>
</file>